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6858000" cy="9144000"/>
  <p:embeddedFontLst>
    <p:embeddedFont>
      <p:font typeface="League Spartan" panose="020B0604020202020204" charset="0"/>
      <p:regular r:id="rId19"/>
    </p:embeddedFont>
    <p:embeddedFont>
      <p:font typeface="Poppins" panose="00000500000000000000" pitchFamily="2" charset="0"/>
      <p:regular r:id="rId20"/>
    </p:embeddedFont>
    <p:embeddedFont>
      <p:font typeface="Poppins Bold" panose="00000800000000000000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3" d="100"/>
          <a:sy n="43" d="100"/>
        </p:scale>
        <p:origin x="936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42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E0EA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274726" cy="21960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1028700"/>
            <a:ext cx="16230600" cy="8229600"/>
          </a:xfrm>
          <a:custGeom>
            <a:avLst/>
            <a:gdLst/>
            <a:ahLst/>
            <a:cxnLst/>
            <a:rect l="l" t="t" r="r" b="b"/>
            <a:pathLst>
              <a:path w="16230600" h="8229600">
                <a:moveTo>
                  <a:pt x="0" y="0"/>
                </a:moveTo>
                <a:lnTo>
                  <a:pt x="16230600" y="0"/>
                </a:lnTo>
                <a:lnTo>
                  <a:pt x="16230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</a:blip>
            <a:stretch>
              <a:fillRect t="-12808" b="-18590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4846692" y="2019876"/>
            <a:ext cx="8594616" cy="6497539"/>
            <a:chOff x="0" y="0"/>
            <a:chExt cx="2263603" cy="171128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63603" cy="1711286"/>
            </a:xfrm>
            <a:custGeom>
              <a:avLst/>
              <a:gdLst/>
              <a:ahLst/>
              <a:cxnLst/>
              <a:rect l="l" t="t" r="r" b="b"/>
              <a:pathLst>
                <a:path w="2263603" h="1711286">
                  <a:moveTo>
                    <a:pt x="45940" y="0"/>
                  </a:moveTo>
                  <a:lnTo>
                    <a:pt x="2217662" y="0"/>
                  </a:lnTo>
                  <a:cubicBezTo>
                    <a:pt x="2229846" y="0"/>
                    <a:pt x="2241532" y="4840"/>
                    <a:pt x="2250147" y="13456"/>
                  </a:cubicBezTo>
                  <a:cubicBezTo>
                    <a:pt x="2258763" y="22071"/>
                    <a:pt x="2263603" y="33756"/>
                    <a:pt x="2263603" y="45940"/>
                  </a:cubicBezTo>
                  <a:lnTo>
                    <a:pt x="2263603" y="1665346"/>
                  </a:lnTo>
                  <a:cubicBezTo>
                    <a:pt x="2263603" y="1690718"/>
                    <a:pt x="2243034" y="1711286"/>
                    <a:pt x="2217662" y="1711286"/>
                  </a:cubicBezTo>
                  <a:lnTo>
                    <a:pt x="45940" y="1711286"/>
                  </a:lnTo>
                  <a:cubicBezTo>
                    <a:pt x="33756" y="1711286"/>
                    <a:pt x="22071" y="1706446"/>
                    <a:pt x="13456" y="1697830"/>
                  </a:cubicBezTo>
                  <a:cubicBezTo>
                    <a:pt x="4840" y="1689215"/>
                    <a:pt x="0" y="1677530"/>
                    <a:pt x="0" y="1665346"/>
                  </a:cubicBezTo>
                  <a:lnTo>
                    <a:pt x="0" y="45940"/>
                  </a:lnTo>
                  <a:cubicBezTo>
                    <a:pt x="0" y="33756"/>
                    <a:pt x="4840" y="22071"/>
                    <a:pt x="13456" y="13456"/>
                  </a:cubicBezTo>
                  <a:cubicBezTo>
                    <a:pt x="22071" y="4840"/>
                    <a:pt x="33756" y="0"/>
                    <a:pt x="45940" y="0"/>
                  </a:cubicBezTo>
                  <a:close/>
                </a:path>
              </a:pathLst>
            </a:custGeom>
            <a:solidFill>
              <a:srgbClr val="3B425E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2263603" cy="17398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0" y="0"/>
            <a:ext cx="5342224" cy="6108572"/>
          </a:xfrm>
          <a:custGeom>
            <a:avLst/>
            <a:gdLst/>
            <a:ahLst/>
            <a:cxnLst/>
            <a:rect l="l" t="t" r="r" b="b"/>
            <a:pathLst>
              <a:path w="5342224" h="6108572">
                <a:moveTo>
                  <a:pt x="0" y="0"/>
                </a:moveTo>
                <a:lnTo>
                  <a:pt x="5342224" y="0"/>
                </a:lnTo>
                <a:lnTo>
                  <a:pt x="5342224" y="6108572"/>
                </a:lnTo>
                <a:lnTo>
                  <a:pt x="0" y="61085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flipH="1" flipV="1">
            <a:off x="14088831" y="5625091"/>
            <a:ext cx="4199169" cy="4801545"/>
          </a:xfrm>
          <a:custGeom>
            <a:avLst/>
            <a:gdLst/>
            <a:ahLst/>
            <a:cxnLst/>
            <a:rect l="l" t="t" r="r" b="b"/>
            <a:pathLst>
              <a:path w="4199169" h="4801545">
                <a:moveTo>
                  <a:pt x="4199169" y="4801545"/>
                </a:moveTo>
                <a:lnTo>
                  <a:pt x="0" y="4801545"/>
                </a:lnTo>
                <a:lnTo>
                  <a:pt x="0" y="0"/>
                </a:lnTo>
                <a:lnTo>
                  <a:pt x="4199169" y="0"/>
                </a:lnTo>
                <a:lnTo>
                  <a:pt x="4199169" y="480154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5152131" y="3307403"/>
            <a:ext cx="7983738" cy="1961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56"/>
              </a:lnSpc>
              <a:spcBef>
                <a:spcPct val="0"/>
              </a:spcBef>
            </a:pPr>
            <a:r>
              <a:rPr lang="en-US" sz="3754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PERANCANGAN TATA LETAK FASILITAS MENGGUNAKAN METODE SLP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775507" y="6591496"/>
            <a:ext cx="7360362" cy="672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39"/>
              </a:lnSpc>
            </a:pPr>
            <a:r>
              <a:rPr lang="en-US" sz="3742" b="1" spc="12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Nama  : Andini Siti Nuryanti</a:t>
            </a:r>
          </a:p>
          <a:p>
            <a:pPr algn="ctr">
              <a:lnSpc>
                <a:spcPts val="5239"/>
              </a:lnSpc>
              <a:spcBef>
                <a:spcPct val="0"/>
              </a:spcBef>
            </a:pPr>
            <a:r>
              <a:rPr lang="en-US" sz="3742" b="1" spc="12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NIM : 05102411007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42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E0EA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274726" cy="21960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1028700"/>
            <a:ext cx="16230600" cy="8229600"/>
          </a:xfrm>
          <a:custGeom>
            <a:avLst/>
            <a:gdLst/>
            <a:ahLst/>
            <a:cxnLst/>
            <a:rect l="l" t="t" r="r" b="b"/>
            <a:pathLst>
              <a:path w="16230600" h="8229600">
                <a:moveTo>
                  <a:pt x="0" y="0"/>
                </a:moveTo>
                <a:lnTo>
                  <a:pt x="16230600" y="0"/>
                </a:lnTo>
                <a:lnTo>
                  <a:pt x="16230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</a:blip>
            <a:stretch>
              <a:fillRect t="-12808" b="-18590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3595225" y="1394215"/>
            <a:ext cx="11097550" cy="1283843"/>
            <a:chOff x="0" y="0"/>
            <a:chExt cx="2922812" cy="33813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22812" cy="338131"/>
            </a:xfrm>
            <a:custGeom>
              <a:avLst/>
              <a:gdLst/>
              <a:ahLst/>
              <a:cxnLst/>
              <a:rect l="l" t="t" r="r" b="b"/>
              <a:pathLst>
                <a:path w="2922812" h="338131">
                  <a:moveTo>
                    <a:pt x="35579" y="0"/>
                  </a:moveTo>
                  <a:lnTo>
                    <a:pt x="2887233" y="0"/>
                  </a:lnTo>
                  <a:cubicBezTo>
                    <a:pt x="2896669" y="0"/>
                    <a:pt x="2905718" y="3748"/>
                    <a:pt x="2912391" y="10421"/>
                  </a:cubicBezTo>
                  <a:cubicBezTo>
                    <a:pt x="2919063" y="17093"/>
                    <a:pt x="2922812" y="26143"/>
                    <a:pt x="2922812" y="35579"/>
                  </a:cubicBezTo>
                  <a:lnTo>
                    <a:pt x="2922812" y="302553"/>
                  </a:lnTo>
                  <a:cubicBezTo>
                    <a:pt x="2922812" y="311989"/>
                    <a:pt x="2919063" y="321038"/>
                    <a:pt x="2912391" y="327711"/>
                  </a:cubicBezTo>
                  <a:cubicBezTo>
                    <a:pt x="2905718" y="334383"/>
                    <a:pt x="2896669" y="338131"/>
                    <a:pt x="2887233" y="338131"/>
                  </a:cubicBezTo>
                  <a:lnTo>
                    <a:pt x="35579" y="338131"/>
                  </a:lnTo>
                  <a:cubicBezTo>
                    <a:pt x="26143" y="338131"/>
                    <a:pt x="17093" y="334383"/>
                    <a:pt x="10421" y="327711"/>
                  </a:cubicBezTo>
                  <a:cubicBezTo>
                    <a:pt x="3748" y="321038"/>
                    <a:pt x="0" y="311989"/>
                    <a:pt x="0" y="302553"/>
                  </a:cubicBezTo>
                  <a:lnTo>
                    <a:pt x="0" y="35579"/>
                  </a:lnTo>
                  <a:cubicBezTo>
                    <a:pt x="0" y="26143"/>
                    <a:pt x="3748" y="17093"/>
                    <a:pt x="10421" y="10421"/>
                  </a:cubicBezTo>
                  <a:cubicBezTo>
                    <a:pt x="17093" y="3748"/>
                    <a:pt x="26143" y="0"/>
                    <a:pt x="35579" y="0"/>
                  </a:cubicBezTo>
                  <a:close/>
                </a:path>
              </a:pathLst>
            </a:custGeom>
            <a:solidFill>
              <a:srgbClr val="3B425E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95250"/>
              <a:ext cx="2922812" cy="433381"/>
            </a:xfrm>
            <a:prstGeom prst="rect">
              <a:avLst/>
            </a:prstGeom>
          </p:spPr>
          <p:txBody>
            <a:bodyPr lIns="12700" tIns="12700" rIns="12700" bIns="12700" rtlCol="0" anchor="ctr"/>
            <a:lstStyle/>
            <a:p>
              <a:pPr algn="ctr">
                <a:lnSpc>
                  <a:spcPts val="769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531924" y="4817499"/>
            <a:ext cx="15224152" cy="1566431"/>
          </a:xfrm>
          <a:custGeom>
            <a:avLst/>
            <a:gdLst/>
            <a:ahLst/>
            <a:cxnLst/>
            <a:rect l="l" t="t" r="r" b="b"/>
            <a:pathLst>
              <a:path w="15224152" h="1566431">
                <a:moveTo>
                  <a:pt x="0" y="0"/>
                </a:moveTo>
                <a:lnTo>
                  <a:pt x="15224152" y="0"/>
                </a:lnTo>
                <a:lnTo>
                  <a:pt x="15224152" y="1566430"/>
                </a:lnTo>
                <a:lnTo>
                  <a:pt x="0" y="15664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855025" y="1591637"/>
            <a:ext cx="10577950" cy="927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sz="54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DAFTAR ISI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074780" y="5324489"/>
            <a:ext cx="2024970" cy="777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Alternatif Layout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978527" y="4953014"/>
            <a:ext cx="2385023" cy="1148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Activity Relationship Chart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008197" y="4953014"/>
            <a:ext cx="2385023" cy="1148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Activity Relationship Diagram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090178" y="5143500"/>
            <a:ext cx="2107643" cy="777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Block Layout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976050" y="4957762"/>
            <a:ext cx="2024970" cy="1148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Pemilihan Layout terbaik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42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E0EA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274726" cy="21960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252101" y="1394215"/>
            <a:ext cx="11783798" cy="1283843"/>
            <a:chOff x="0" y="0"/>
            <a:chExt cx="3103552" cy="33813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103552" cy="338131"/>
            </a:xfrm>
            <a:custGeom>
              <a:avLst/>
              <a:gdLst/>
              <a:ahLst/>
              <a:cxnLst/>
              <a:rect l="l" t="t" r="r" b="b"/>
              <a:pathLst>
                <a:path w="3103552" h="338131">
                  <a:moveTo>
                    <a:pt x="33507" y="0"/>
                  </a:moveTo>
                  <a:lnTo>
                    <a:pt x="3070045" y="0"/>
                  </a:lnTo>
                  <a:cubicBezTo>
                    <a:pt x="3078931" y="0"/>
                    <a:pt x="3087454" y="3530"/>
                    <a:pt x="3093738" y="9814"/>
                  </a:cubicBezTo>
                  <a:cubicBezTo>
                    <a:pt x="3100021" y="16098"/>
                    <a:pt x="3103552" y="24620"/>
                    <a:pt x="3103552" y="33507"/>
                  </a:cubicBezTo>
                  <a:lnTo>
                    <a:pt x="3103552" y="304625"/>
                  </a:lnTo>
                  <a:cubicBezTo>
                    <a:pt x="3103552" y="323130"/>
                    <a:pt x="3088550" y="338131"/>
                    <a:pt x="3070045" y="338131"/>
                  </a:cubicBezTo>
                  <a:lnTo>
                    <a:pt x="33507" y="338131"/>
                  </a:lnTo>
                  <a:cubicBezTo>
                    <a:pt x="24620" y="338131"/>
                    <a:pt x="16098" y="334601"/>
                    <a:pt x="9814" y="328318"/>
                  </a:cubicBezTo>
                  <a:cubicBezTo>
                    <a:pt x="3530" y="322034"/>
                    <a:pt x="0" y="313511"/>
                    <a:pt x="0" y="304625"/>
                  </a:cubicBezTo>
                  <a:lnTo>
                    <a:pt x="0" y="33507"/>
                  </a:lnTo>
                  <a:cubicBezTo>
                    <a:pt x="0" y="24620"/>
                    <a:pt x="3530" y="16098"/>
                    <a:pt x="9814" y="9814"/>
                  </a:cubicBezTo>
                  <a:cubicBezTo>
                    <a:pt x="16098" y="3530"/>
                    <a:pt x="24620" y="0"/>
                    <a:pt x="33507" y="0"/>
                  </a:cubicBezTo>
                  <a:close/>
                </a:path>
              </a:pathLst>
            </a:custGeom>
            <a:solidFill>
              <a:srgbClr val="3B425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95250"/>
              <a:ext cx="3103552" cy="433381"/>
            </a:xfrm>
            <a:prstGeom prst="rect">
              <a:avLst/>
            </a:prstGeom>
          </p:spPr>
          <p:txBody>
            <a:bodyPr lIns="12700" tIns="12700" rIns="12700" bIns="12700" rtlCol="0" anchor="ctr"/>
            <a:lstStyle/>
            <a:p>
              <a:pPr algn="ctr">
                <a:lnSpc>
                  <a:spcPts val="769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5587256" y="3039711"/>
            <a:ext cx="7113488" cy="5451183"/>
          </a:xfrm>
          <a:custGeom>
            <a:avLst/>
            <a:gdLst/>
            <a:ahLst/>
            <a:cxnLst/>
            <a:rect l="l" t="t" r="r" b="b"/>
            <a:pathLst>
              <a:path w="7113488" h="5451183">
                <a:moveTo>
                  <a:pt x="0" y="0"/>
                </a:moveTo>
                <a:lnTo>
                  <a:pt x="7113488" y="0"/>
                </a:lnTo>
                <a:lnTo>
                  <a:pt x="7113488" y="5451183"/>
                </a:lnTo>
                <a:lnTo>
                  <a:pt x="0" y="54511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617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412747" y="1591637"/>
            <a:ext cx="11462506" cy="927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sz="54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KODEFIKASI DEPARTEMEN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42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E0EA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274726" cy="21960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1028700"/>
            <a:ext cx="16230600" cy="8229600"/>
          </a:xfrm>
          <a:custGeom>
            <a:avLst/>
            <a:gdLst/>
            <a:ahLst/>
            <a:cxnLst/>
            <a:rect l="l" t="t" r="r" b="b"/>
            <a:pathLst>
              <a:path w="16230600" h="8229600">
                <a:moveTo>
                  <a:pt x="0" y="0"/>
                </a:moveTo>
                <a:lnTo>
                  <a:pt x="16230600" y="0"/>
                </a:lnTo>
                <a:lnTo>
                  <a:pt x="16230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</a:blip>
            <a:stretch>
              <a:fillRect t="-12808" b="-18590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3595225" y="1394215"/>
            <a:ext cx="11097550" cy="1283843"/>
            <a:chOff x="0" y="0"/>
            <a:chExt cx="2922812" cy="33813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22812" cy="338131"/>
            </a:xfrm>
            <a:custGeom>
              <a:avLst/>
              <a:gdLst/>
              <a:ahLst/>
              <a:cxnLst/>
              <a:rect l="l" t="t" r="r" b="b"/>
              <a:pathLst>
                <a:path w="2922812" h="338131">
                  <a:moveTo>
                    <a:pt x="35579" y="0"/>
                  </a:moveTo>
                  <a:lnTo>
                    <a:pt x="2887233" y="0"/>
                  </a:lnTo>
                  <a:cubicBezTo>
                    <a:pt x="2896669" y="0"/>
                    <a:pt x="2905718" y="3748"/>
                    <a:pt x="2912391" y="10421"/>
                  </a:cubicBezTo>
                  <a:cubicBezTo>
                    <a:pt x="2919063" y="17093"/>
                    <a:pt x="2922812" y="26143"/>
                    <a:pt x="2922812" y="35579"/>
                  </a:cubicBezTo>
                  <a:lnTo>
                    <a:pt x="2922812" y="302553"/>
                  </a:lnTo>
                  <a:cubicBezTo>
                    <a:pt x="2922812" y="311989"/>
                    <a:pt x="2919063" y="321038"/>
                    <a:pt x="2912391" y="327711"/>
                  </a:cubicBezTo>
                  <a:cubicBezTo>
                    <a:pt x="2905718" y="334383"/>
                    <a:pt x="2896669" y="338131"/>
                    <a:pt x="2887233" y="338131"/>
                  </a:cubicBezTo>
                  <a:lnTo>
                    <a:pt x="35579" y="338131"/>
                  </a:lnTo>
                  <a:cubicBezTo>
                    <a:pt x="26143" y="338131"/>
                    <a:pt x="17093" y="334383"/>
                    <a:pt x="10421" y="327711"/>
                  </a:cubicBezTo>
                  <a:cubicBezTo>
                    <a:pt x="3748" y="321038"/>
                    <a:pt x="0" y="311989"/>
                    <a:pt x="0" y="302553"/>
                  </a:cubicBezTo>
                  <a:lnTo>
                    <a:pt x="0" y="35579"/>
                  </a:lnTo>
                  <a:cubicBezTo>
                    <a:pt x="0" y="26143"/>
                    <a:pt x="3748" y="17093"/>
                    <a:pt x="10421" y="10421"/>
                  </a:cubicBezTo>
                  <a:cubicBezTo>
                    <a:pt x="17093" y="3748"/>
                    <a:pt x="26143" y="0"/>
                    <a:pt x="35579" y="0"/>
                  </a:cubicBezTo>
                  <a:close/>
                </a:path>
              </a:pathLst>
            </a:custGeom>
            <a:solidFill>
              <a:srgbClr val="3B425E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95250"/>
              <a:ext cx="2922812" cy="433381"/>
            </a:xfrm>
            <a:prstGeom prst="rect">
              <a:avLst/>
            </a:prstGeom>
          </p:spPr>
          <p:txBody>
            <a:bodyPr lIns="12700" tIns="12700" rIns="12700" bIns="12700" rtlCol="0" anchor="ctr"/>
            <a:lstStyle/>
            <a:p>
              <a:pPr algn="ctr">
                <a:lnSpc>
                  <a:spcPts val="769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3855025" y="1591637"/>
            <a:ext cx="10577950" cy="927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sz="54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URUTAN PROSES PRODUKSI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347979" y="3187924"/>
            <a:ext cx="8470250" cy="6509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62"/>
              </a:lnSpc>
            </a:pPr>
            <a:r>
              <a:rPr lang="en-US" sz="233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Alur </a:t>
            </a:r>
            <a:r>
              <a:rPr lang="en-US" sz="233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prosuksi</a:t>
            </a:r>
            <a:r>
              <a:rPr lang="en-US" sz="233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Sequential (Tidak Bisa </a:t>
            </a:r>
            <a:r>
              <a:rPr lang="en-US" sz="233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Dibalik</a:t>
            </a:r>
            <a:r>
              <a:rPr lang="en-US" sz="233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):</a:t>
            </a:r>
          </a:p>
          <a:p>
            <a:pPr algn="just">
              <a:lnSpc>
                <a:spcPts val="3262"/>
              </a:lnSpc>
            </a:pPr>
            <a:endParaRPr lang="en-US" sz="233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262"/>
              </a:lnSpc>
            </a:pPr>
            <a:r>
              <a:rPr lang="en-US" sz="233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→ B → C → D → E → F → G → H → I → J</a:t>
            </a:r>
          </a:p>
          <a:p>
            <a:pPr algn="just">
              <a:lnSpc>
                <a:spcPts val="3262"/>
              </a:lnSpc>
            </a:pPr>
            <a:endParaRPr lang="en-US" sz="233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262"/>
              </a:lnSpc>
            </a:pPr>
            <a:r>
              <a:rPr lang="en-US" sz="233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Penjelasan</a:t>
            </a:r>
            <a:r>
              <a:rPr lang="en-US" sz="233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Alur:</a:t>
            </a:r>
          </a:p>
          <a:p>
            <a:pPr algn="just">
              <a:lnSpc>
                <a:spcPts val="3262"/>
              </a:lnSpc>
            </a:pPr>
            <a:r>
              <a:rPr lang="en-US" sz="233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→ B      :  Material </a:t>
            </a:r>
            <a:r>
              <a:rPr lang="en-US" sz="233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dari</a:t>
            </a:r>
            <a:r>
              <a:rPr lang="en-US" sz="233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3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gudang</a:t>
            </a:r>
            <a:r>
              <a:rPr lang="en-US" sz="233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3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langsung</a:t>
            </a:r>
            <a:r>
              <a:rPr lang="en-US" sz="233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3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</a:t>
            </a:r>
            <a:r>
              <a:rPr lang="en-US" sz="233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cutting</a:t>
            </a:r>
          </a:p>
          <a:p>
            <a:pPr algn="just">
              <a:lnSpc>
                <a:spcPts val="3262"/>
              </a:lnSpc>
            </a:pPr>
            <a:r>
              <a:rPr lang="en-US" sz="233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 → C      :  Hasil cutting </a:t>
            </a:r>
            <a:r>
              <a:rPr lang="en-US" sz="233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</a:t>
            </a:r>
            <a:r>
              <a:rPr lang="en-US" sz="233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milling</a:t>
            </a:r>
          </a:p>
          <a:p>
            <a:pPr algn="just">
              <a:lnSpc>
                <a:spcPts val="3262"/>
              </a:lnSpc>
            </a:pPr>
            <a:r>
              <a:rPr lang="en-US" sz="233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 → D      :  Hasil milling </a:t>
            </a:r>
            <a:r>
              <a:rPr lang="en-US" sz="233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</a:t>
            </a:r>
            <a:r>
              <a:rPr lang="en-US" sz="233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drilling</a:t>
            </a:r>
          </a:p>
          <a:p>
            <a:pPr algn="just">
              <a:lnSpc>
                <a:spcPts val="3262"/>
              </a:lnSpc>
            </a:pPr>
            <a:r>
              <a:rPr lang="en-US" sz="233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 → E       :  Hasil drilling </a:t>
            </a:r>
            <a:r>
              <a:rPr lang="en-US" sz="233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</a:t>
            </a:r>
            <a:r>
              <a:rPr lang="en-US" sz="233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grinding</a:t>
            </a:r>
          </a:p>
          <a:p>
            <a:pPr algn="just">
              <a:lnSpc>
                <a:spcPts val="3262"/>
              </a:lnSpc>
            </a:pPr>
            <a:r>
              <a:rPr lang="en-US" sz="233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 → F        :  Hasil grinding </a:t>
            </a:r>
            <a:r>
              <a:rPr lang="en-US" sz="233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</a:t>
            </a:r>
            <a:r>
              <a:rPr lang="en-US" sz="233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heat treatment</a:t>
            </a:r>
          </a:p>
          <a:p>
            <a:pPr algn="just">
              <a:lnSpc>
                <a:spcPts val="3262"/>
              </a:lnSpc>
            </a:pPr>
            <a:r>
              <a:rPr lang="en-US" sz="233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 → G       :  Hasil heat treatment </a:t>
            </a:r>
            <a:r>
              <a:rPr lang="en-US" sz="233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</a:t>
            </a:r>
            <a:r>
              <a:rPr lang="en-US" sz="233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assembly</a:t>
            </a:r>
          </a:p>
          <a:p>
            <a:pPr algn="just">
              <a:lnSpc>
                <a:spcPts val="3262"/>
              </a:lnSpc>
            </a:pPr>
            <a:r>
              <a:rPr lang="en-US" sz="233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 → H       :  Hasil </a:t>
            </a:r>
            <a:r>
              <a:rPr lang="en-US" sz="233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rakitan</a:t>
            </a:r>
            <a:r>
              <a:rPr lang="en-US" sz="233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3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</a:t>
            </a:r>
            <a:r>
              <a:rPr lang="en-US" sz="233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quality control</a:t>
            </a:r>
          </a:p>
          <a:p>
            <a:pPr algn="just">
              <a:lnSpc>
                <a:spcPts val="3262"/>
              </a:lnSpc>
            </a:pPr>
            <a:r>
              <a:rPr lang="en-US" sz="233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 → I         :  </a:t>
            </a:r>
            <a:r>
              <a:rPr lang="en-US" sz="233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Produk</a:t>
            </a:r>
            <a:r>
              <a:rPr lang="en-US" sz="233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lolos QC </a:t>
            </a:r>
            <a:r>
              <a:rPr lang="en-US" sz="233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</a:t>
            </a:r>
            <a:r>
              <a:rPr lang="en-US" sz="233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packaging</a:t>
            </a:r>
          </a:p>
          <a:p>
            <a:pPr algn="just">
              <a:lnSpc>
                <a:spcPts val="3262"/>
              </a:lnSpc>
            </a:pPr>
            <a:r>
              <a:rPr lang="en-US" sz="233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 → J          :  Hasil </a:t>
            </a:r>
            <a:r>
              <a:rPr lang="en-US" sz="233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kemasan</a:t>
            </a:r>
            <a:r>
              <a:rPr lang="en-US" sz="233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3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</a:t>
            </a:r>
            <a:r>
              <a:rPr lang="en-US" sz="233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3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gudang</a:t>
            </a:r>
            <a:r>
              <a:rPr lang="en-US" sz="233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jadi</a:t>
            </a:r>
          </a:p>
          <a:p>
            <a:pPr algn="just">
              <a:lnSpc>
                <a:spcPts val="3262"/>
              </a:lnSpc>
            </a:pPr>
            <a:endParaRPr lang="en-US" sz="233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262"/>
              </a:lnSpc>
              <a:spcBef>
                <a:spcPct val="0"/>
              </a:spcBef>
            </a:pPr>
            <a:endParaRPr lang="en-US" sz="233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42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E0EA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274726" cy="21960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1028700"/>
            <a:ext cx="16230600" cy="8229600"/>
          </a:xfrm>
          <a:custGeom>
            <a:avLst/>
            <a:gdLst/>
            <a:ahLst/>
            <a:cxnLst/>
            <a:rect l="l" t="t" r="r" b="b"/>
            <a:pathLst>
              <a:path w="16230600" h="8229600">
                <a:moveTo>
                  <a:pt x="0" y="0"/>
                </a:moveTo>
                <a:lnTo>
                  <a:pt x="16230600" y="0"/>
                </a:lnTo>
                <a:lnTo>
                  <a:pt x="16230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</a:blip>
            <a:stretch>
              <a:fillRect t="-12808" b="-18590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3595225" y="1394215"/>
            <a:ext cx="11097550" cy="1283843"/>
            <a:chOff x="0" y="0"/>
            <a:chExt cx="2922812" cy="33813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22812" cy="338131"/>
            </a:xfrm>
            <a:custGeom>
              <a:avLst/>
              <a:gdLst/>
              <a:ahLst/>
              <a:cxnLst/>
              <a:rect l="l" t="t" r="r" b="b"/>
              <a:pathLst>
                <a:path w="2922812" h="338131">
                  <a:moveTo>
                    <a:pt x="35579" y="0"/>
                  </a:moveTo>
                  <a:lnTo>
                    <a:pt x="2887233" y="0"/>
                  </a:lnTo>
                  <a:cubicBezTo>
                    <a:pt x="2896669" y="0"/>
                    <a:pt x="2905718" y="3748"/>
                    <a:pt x="2912391" y="10421"/>
                  </a:cubicBezTo>
                  <a:cubicBezTo>
                    <a:pt x="2919063" y="17093"/>
                    <a:pt x="2922812" y="26143"/>
                    <a:pt x="2922812" y="35579"/>
                  </a:cubicBezTo>
                  <a:lnTo>
                    <a:pt x="2922812" y="302553"/>
                  </a:lnTo>
                  <a:cubicBezTo>
                    <a:pt x="2922812" y="311989"/>
                    <a:pt x="2919063" y="321038"/>
                    <a:pt x="2912391" y="327711"/>
                  </a:cubicBezTo>
                  <a:cubicBezTo>
                    <a:pt x="2905718" y="334383"/>
                    <a:pt x="2896669" y="338131"/>
                    <a:pt x="2887233" y="338131"/>
                  </a:cubicBezTo>
                  <a:lnTo>
                    <a:pt x="35579" y="338131"/>
                  </a:lnTo>
                  <a:cubicBezTo>
                    <a:pt x="26143" y="338131"/>
                    <a:pt x="17093" y="334383"/>
                    <a:pt x="10421" y="327711"/>
                  </a:cubicBezTo>
                  <a:cubicBezTo>
                    <a:pt x="3748" y="321038"/>
                    <a:pt x="0" y="311989"/>
                    <a:pt x="0" y="302553"/>
                  </a:cubicBezTo>
                  <a:lnTo>
                    <a:pt x="0" y="35579"/>
                  </a:lnTo>
                  <a:cubicBezTo>
                    <a:pt x="0" y="26143"/>
                    <a:pt x="3748" y="17093"/>
                    <a:pt x="10421" y="10421"/>
                  </a:cubicBezTo>
                  <a:cubicBezTo>
                    <a:pt x="17093" y="3748"/>
                    <a:pt x="26143" y="0"/>
                    <a:pt x="35579" y="0"/>
                  </a:cubicBezTo>
                  <a:close/>
                </a:path>
              </a:pathLst>
            </a:custGeom>
            <a:solidFill>
              <a:srgbClr val="3B425E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95250"/>
              <a:ext cx="2922812" cy="433381"/>
            </a:xfrm>
            <a:prstGeom prst="rect">
              <a:avLst/>
            </a:prstGeom>
          </p:spPr>
          <p:txBody>
            <a:bodyPr lIns="12700" tIns="12700" rIns="12700" bIns="12700" rtlCol="0" anchor="ctr"/>
            <a:lstStyle/>
            <a:p>
              <a:pPr algn="ctr">
                <a:lnSpc>
                  <a:spcPts val="769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3855025" y="1610687"/>
            <a:ext cx="10837750" cy="676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56"/>
              </a:lnSpc>
              <a:spcBef>
                <a:spcPct val="0"/>
              </a:spcBef>
            </a:pPr>
            <a:r>
              <a:rPr lang="en-US" sz="396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ACTIVITY RELATIONSHIP CHART (ARC)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539443" y="3430905"/>
            <a:ext cx="14374639" cy="3358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360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Simbol                                Deskripsi                                                 Penjelasan</a:t>
            </a:r>
          </a:p>
          <a:p>
            <a:pPr marL="0" lvl="0" indent="0" algn="just">
              <a:lnSpc>
                <a:spcPts val="3360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A                              Absolutely Necessary            Wajib bersebelahan, jarak paling dekat</a:t>
            </a:r>
          </a:p>
          <a:p>
            <a:pPr marL="0" lvl="0" indent="0" algn="just">
              <a:lnSpc>
                <a:spcPts val="3360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E                             Especially Important               Harus dekat, tapi tidak harus bersebelahan</a:t>
            </a:r>
          </a:p>
          <a:p>
            <a:pPr marL="0" lvl="0" indent="0" algn="just">
              <a:lnSpc>
                <a:spcPts val="3360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I                                        Important                              Sebaiknya tidak terlalu jauh</a:t>
            </a:r>
          </a:p>
          <a:p>
            <a:pPr marL="0" lvl="0" indent="0" algn="just">
              <a:lnSpc>
                <a:spcPts val="3360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O                                        Ordinary                                   Boleh ditempatkan jauh</a:t>
            </a:r>
          </a:p>
          <a:p>
            <a:pPr marL="0" lvl="0" indent="0" algn="just">
              <a:lnSpc>
                <a:spcPts val="3360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U                                     Unimportant                           Posisi bebas, tidak ada pengaruh</a:t>
            </a:r>
          </a:p>
          <a:p>
            <a:pPr marL="0" lvl="0" indent="0" algn="just">
              <a:lnSpc>
                <a:spcPts val="3360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X                                      Undesirable                                 Sebaiknya tidak berdekatan</a:t>
            </a:r>
          </a:p>
          <a:p>
            <a:pPr marL="0" lvl="0" indent="0" algn="just">
              <a:lnSpc>
                <a:spcPts val="3360"/>
              </a:lnSpc>
              <a:spcBef>
                <a:spcPct val="0"/>
              </a:spcBef>
            </a:pPr>
            <a:endParaRPr lang="en-US" sz="2400" u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42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E0EA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274726" cy="21960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595225" y="1394215"/>
            <a:ext cx="11097550" cy="1283843"/>
            <a:chOff x="0" y="0"/>
            <a:chExt cx="2922812" cy="33813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922812" cy="338131"/>
            </a:xfrm>
            <a:custGeom>
              <a:avLst/>
              <a:gdLst/>
              <a:ahLst/>
              <a:cxnLst/>
              <a:rect l="l" t="t" r="r" b="b"/>
              <a:pathLst>
                <a:path w="2922812" h="338131">
                  <a:moveTo>
                    <a:pt x="35579" y="0"/>
                  </a:moveTo>
                  <a:lnTo>
                    <a:pt x="2887233" y="0"/>
                  </a:lnTo>
                  <a:cubicBezTo>
                    <a:pt x="2896669" y="0"/>
                    <a:pt x="2905718" y="3748"/>
                    <a:pt x="2912391" y="10421"/>
                  </a:cubicBezTo>
                  <a:cubicBezTo>
                    <a:pt x="2919063" y="17093"/>
                    <a:pt x="2922812" y="26143"/>
                    <a:pt x="2922812" y="35579"/>
                  </a:cubicBezTo>
                  <a:lnTo>
                    <a:pt x="2922812" y="302553"/>
                  </a:lnTo>
                  <a:cubicBezTo>
                    <a:pt x="2922812" y="311989"/>
                    <a:pt x="2919063" y="321038"/>
                    <a:pt x="2912391" y="327711"/>
                  </a:cubicBezTo>
                  <a:cubicBezTo>
                    <a:pt x="2905718" y="334383"/>
                    <a:pt x="2896669" y="338131"/>
                    <a:pt x="2887233" y="338131"/>
                  </a:cubicBezTo>
                  <a:lnTo>
                    <a:pt x="35579" y="338131"/>
                  </a:lnTo>
                  <a:cubicBezTo>
                    <a:pt x="26143" y="338131"/>
                    <a:pt x="17093" y="334383"/>
                    <a:pt x="10421" y="327711"/>
                  </a:cubicBezTo>
                  <a:cubicBezTo>
                    <a:pt x="3748" y="321038"/>
                    <a:pt x="0" y="311989"/>
                    <a:pt x="0" y="302553"/>
                  </a:cubicBezTo>
                  <a:lnTo>
                    <a:pt x="0" y="35579"/>
                  </a:lnTo>
                  <a:cubicBezTo>
                    <a:pt x="0" y="26143"/>
                    <a:pt x="3748" y="17093"/>
                    <a:pt x="10421" y="10421"/>
                  </a:cubicBezTo>
                  <a:cubicBezTo>
                    <a:pt x="17093" y="3748"/>
                    <a:pt x="26143" y="0"/>
                    <a:pt x="35579" y="0"/>
                  </a:cubicBezTo>
                  <a:close/>
                </a:path>
              </a:pathLst>
            </a:custGeom>
            <a:solidFill>
              <a:srgbClr val="3B425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95250"/>
              <a:ext cx="2922812" cy="433381"/>
            </a:xfrm>
            <a:prstGeom prst="rect">
              <a:avLst/>
            </a:prstGeom>
          </p:spPr>
          <p:txBody>
            <a:bodyPr lIns="12700" tIns="12700" rIns="12700" bIns="12700" rtlCol="0" anchor="ctr"/>
            <a:lstStyle/>
            <a:p>
              <a:pPr algn="ctr">
                <a:lnSpc>
                  <a:spcPts val="769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606341" y="3085522"/>
            <a:ext cx="7863205" cy="4756754"/>
          </a:xfrm>
          <a:custGeom>
            <a:avLst/>
            <a:gdLst/>
            <a:ahLst/>
            <a:cxnLst/>
            <a:rect l="l" t="t" r="r" b="b"/>
            <a:pathLst>
              <a:path w="7863205" h="4756754">
                <a:moveTo>
                  <a:pt x="0" y="0"/>
                </a:moveTo>
                <a:lnTo>
                  <a:pt x="7863206" y="0"/>
                </a:lnTo>
                <a:lnTo>
                  <a:pt x="7863206" y="4756754"/>
                </a:lnTo>
                <a:lnTo>
                  <a:pt x="0" y="47567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855025" y="1591637"/>
            <a:ext cx="10577950" cy="927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sz="54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ARC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852756" y="2873664"/>
            <a:ext cx="6880699" cy="5727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263"/>
              </a:lnSpc>
            </a:pPr>
            <a:r>
              <a:rPr lang="en-US" sz="161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HUBUNGAN A (ABSOLUTELY NECESSARY)</a:t>
            </a:r>
          </a:p>
          <a:p>
            <a:pPr algn="just">
              <a:lnSpc>
                <a:spcPts val="2263"/>
              </a:lnSpc>
            </a:pPr>
            <a:r>
              <a:rPr lang="en-US" sz="161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Departemen yang WAJIB Bersebelahan:</a:t>
            </a:r>
          </a:p>
          <a:p>
            <a:pPr algn="just">
              <a:lnSpc>
                <a:spcPts val="2263"/>
              </a:lnSpc>
            </a:pPr>
            <a:r>
              <a:rPr lang="en-US" sz="161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Pasangan Alasan</a:t>
            </a:r>
          </a:p>
          <a:p>
            <a:pPr algn="just">
              <a:lnSpc>
                <a:spcPts val="2263"/>
              </a:lnSpc>
            </a:pPr>
            <a:r>
              <a:rPr lang="en-US" sz="161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↔ B Material keluar gudang langsung masuk cutting</a:t>
            </a:r>
          </a:p>
          <a:p>
            <a:pPr algn="just">
              <a:lnSpc>
                <a:spcPts val="2263"/>
              </a:lnSpc>
            </a:pPr>
            <a:r>
              <a:rPr lang="en-US" sz="161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 ↔ C Hasil cutting langsung dikerjakan di milling</a:t>
            </a:r>
          </a:p>
          <a:p>
            <a:pPr algn="just">
              <a:lnSpc>
                <a:spcPts val="2263"/>
              </a:lnSpc>
            </a:pPr>
            <a:r>
              <a:rPr lang="en-US" sz="161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 ↔ D Hasil milling langsung dibor</a:t>
            </a:r>
          </a:p>
          <a:p>
            <a:pPr algn="just">
              <a:lnSpc>
                <a:spcPts val="2263"/>
              </a:lnSpc>
            </a:pPr>
            <a:r>
              <a:rPr lang="en-US" sz="161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 ↔ E Setelah dibor, langsung dihaluskan</a:t>
            </a:r>
          </a:p>
          <a:p>
            <a:pPr algn="just">
              <a:lnSpc>
                <a:spcPts val="2263"/>
              </a:lnSpc>
            </a:pPr>
            <a:r>
              <a:rPr lang="en-US" sz="161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 ↔ F Setelah dihaluskan, langsung heat treatment</a:t>
            </a:r>
          </a:p>
          <a:p>
            <a:pPr algn="just">
              <a:lnSpc>
                <a:spcPts val="2263"/>
              </a:lnSpc>
            </a:pPr>
            <a:r>
              <a:rPr lang="en-US" sz="161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 ↔ G Setelah heat treatment, langsung dirakit</a:t>
            </a:r>
          </a:p>
          <a:p>
            <a:pPr algn="just">
              <a:lnSpc>
                <a:spcPts val="2263"/>
              </a:lnSpc>
            </a:pPr>
            <a:r>
              <a:rPr lang="en-US" sz="161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 ↔ H Hasil rakitan langsung dicek kualitas</a:t>
            </a:r>
          </a:p>
          <a:p>
            <a:pPr algn="just">
              <a:lnSpc>
                <a:spcPts val="2263"/>
              </a:lnSpc>
            </a:pPr>
            <a:r>
              <a:rPr lang="en-US" sz="161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 ↔ I Yang lolos QC langsung dikemas</a:t>
            </a:r>
          </a:p>
          <a:p>
            <a:pPr algn="just">
              <a:lnSpc>
                <a:spcPts val="2263"/>
              </a:lnSpc>
            </a:pPr>
            <a:r>
              <a:rPr lang="en-US" sz="161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 ↔ J Hasil kemasan langsung masuk gudang jadi</a:t>
            </a:r>
          </a:p>
          <a:p>
            <a:pPr algn="just">
              <a:lnSpc>
                <a:spcPts val="2263"/>
              </a:lnSpc>
            </a:pPr>
            <a:endParaRPr lang="en-US" sz="1616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263"/>
              </a:lnSpc>
            </a:pPr>
            <a:r>
              <a:rPr lang="en-US" sz="161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HUBUNGAN E (ESPECIALLY IMPORTANT)</a:t>
            </a:r>
          </a:p>
          <a:p>
            <a:pPr algn="just">
              <a:lnSpc>
                <a:spcPts val="2263"/>
              </a:lnSpc>
            </a:pPr>
            <a:r>
              <a:rPr lang="en-US" sz="161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Departemen Pendukung yang Harus Dekat:</a:t>
            </a:r>
          </a:p>
          <a:p>
            <a:pPr algn="just">
              <a:lnSpc>
                <a:spcPts val="2263"/>
              </a:lnSpc>
            </a:pPr>
            <a:r>
              <a:rPr lang="en-US" sz="161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Hubungan Alasan Penempatan</a:t>
            </a:r>
          </a:p>
          <a:p>
            <a:pPr algn="just">
              <a:lnSpc>
                <a:spcPts val="2263"/>
              </a:lnSpc>
            </a:pPr>
            <a:r>
              <a:rPr lang="en-US" sz="161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 ↔ B, C, D, E Maintenance dekat dengan mesin produksi (milling, drilling, grinding)</a:t>
            </a:r>
          </a:p>
          <a:p>
            <a:pPr algn="just">
              <a:lnSpc>
                <a:spcPts val="2263"/>
              </a:lnSpc>
            </a:pPr>
            <a:r>
              <a:rPr lang="en-US" sz="161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 ↔ G, H Kantor dekat dengan assembly dan QC untuk supervisi</a:t>
            </a:r>
          </a:p>
          <a:p>
            <a:pPr algn="just">
              <a:lnSpc>
                <a:spcPts val="2263"/>
              </a:lnSpc>
              <a:spcBef>
                <a:spcPct val="0"/>
              </a:spcBef>
            </a:pPr>
            <a:r>
              <a:rPr lang="en-US" sz="161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42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E0EA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274726" cy="21960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595225" y="1394215"/>
            <a:ext cx="11097550" cy="1283843"/>
            <a:chOff x="0" y="0"/>
            <a:chExt cx="2922812" cy="33813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922812" cy="338131"/>
            </a:xfrm>
            <a:custGeom>
              <a:avLst/>
              <a:gdLst/>
              <a:ahLst/>
              <a:cxnLst/>
              <a:rect l="l" t="t" r="r" b="b"/>
              <a:pathLst>
                <a:path w="2922812" h="338131">
                  <a:moveTo>
                    <a:pt x="35579" y="0"/>
                  </a:moveTo>
                  <a:lnTo>
                    <a:pt x="2887233" y="0"/>
                  </a:lnTo>
                  <a:cubicBezTo>
                    <a:pt x="2896669" y="0"/>
                    <a:pt x="2905718" y="3748"/>
                    <a:pt x="2912391" y="10421"/>
                  </a:cubicBezTo>
                  <a:cubicBezTo>
                    <a:pt x="2919063" y="17093"/>
                    <a:pt x="2922812" y="26143"/>
                    <a:pt x="2922812" y="35579"/>
                  </a:cubicBezTo>
                  <a:lnTo>
                    <a:pt x="2922812" y="302553"/>
                  </a:lnTo>
                  <a:cubicBezTo>
                    <a:pt x="2922812" y="311989"/>
                    <a:pt x="2919063" y="321038"/>
                    <a:pt x="2912391" y="327711"/>
                  </a:cubicBezTo>
                  <a:cubicBezTo>
                    <a:pt x="2905718" y="334383"/>
                    <a:pt x="2896669" y="338131"/>
                    <a:pt x="2887233" y="338131"/>
                  </a:cubicBezTo>
                  <a:lnTo>
                    <a:pt x="35579" y="338131"/>
                  </a:lnTo>
                  <a:cubicBezTo>
                    <a:pt x="26143" y="338131"/>
                    <a:pt x="17093" y="334383"/>
                    <a:pt x="10421" y="327711"/>
                  </a:cubicBezTo>
                  <a:cubicBezTo>
                    <a:pt x="3748" y="321038"/>
                    <a:pt x="0" y="311989"/>
                    <a:pt x="0" y="302553"/>
                  </a:cubicBezTo>
                  <a:lnTo>
                    <a:pt x="0" y="35579"/>
                  </a:lnTo>
                  <a:cubicBezTo>
                    <a:pt x="0" y="26143"/>
                    <a:pt x="3748" y="17093"/>
                    <a:pt x="10421" y="10421"/>
                  </a:cubicBezTo>
                  <a:cubicBezTo>
                    <a:pt x="17093" y="3748"/>
                    <a:pt x="26143" y="0"/>
                    <a:pt x="35579" y="0"/>
                  </a:cubicBezTo>
                  <a:close/>
                </a:path>
              </a:pathLst>
            </a:custGeom>
            <a:solidFill>
              <a:srgbClr val="3B425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95250"/>
              <a:ext cx="2922812" cy="433381"/>
            </a:xfrm>
            <a:prstGeom prst="rect">
              <a:avLst/>
            </a:prstGeom>
          </p:spPr>
          <p:txBody>
            <a:bodyPr lIns="12700" tIns="12700" rIns="12700" bIns="12700" rtlCol="0" anchor="ctr"/>
            <a:lstStyle/>
            <a:p>
              <a:pPr algn="ctr">
                <a:lnSpc>
                  <a:spcPts val="769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3493371" y="3048911"/>
            <a:ext cx="11301259" cy="2881821"/>
          </a:xfrm>
          <a:custGeom>
            <a:avLst/>
            <a:gdLst/>
            <a:ahLst/>
            <a:cxnLst/>
            <a:rect l="l" t="t" r="r" b="b"/>
            <a:pathLst>
              <a:path w="11301259" h="2881821">
                <a:moveTo>
                  <a:pt x="0" y="0"/>
                </a:moveTo>
                <a:lnTo>
                  <a:pt x="11301258" y="0"/>
                </a:lnTo>
                <a:lnTo>
                  <a:pt x="11301258" y="2881821"/>
                </a:lnTo>
                <a:lnTo>
                  <a:pt x="0" y="2881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595225" y="1680754"/>
            <a:ext cx="11041459" cy="644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44"/>
              </a:lnSpc>
              <a:spcBef>
                <a:spcPct val="0"/>
              </a:spcBef>
            </a:pPr>
            <a:r>
              <a:rPr lang="en-US" sz="3817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ACTIVITY REALTIONSHIP DIAGRAM (ARD)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595225" y="6073032"/>
            <a:ext cx="12430551" cy="3599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Bentuk Linear Horizontal:</a:t>
            </a:r>
          </a:p>
          <a:p>
            <a:pPr algn="just">
              <a:lnSpc>
                <a:spcPts val="3220"/>
              </a:lnSpc>
            </a:pPr>
            <a:endParaRPr lang="en-US" sz="23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Karakteristik:</a:t>
            </a:r>
          </a:p>
          <a:p>
            <a:pPr algn="just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Mengikuti alur proses yang jelas (sequential)</a:t>
            </a:r>
          </a:p>
          <a:p>
            <a:pPr algn="just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Semua hubungan A menjadi garis horizontal sederhana</a:t>
            </a:r>
          </a:p>
          <a:p>
            <a:pPr algn="just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 di tengah untuk akses cepat ke semua mesin</a:t>
            </a:r>
          </a:p>
          <a:p>
            <a:pPr algn="just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 di kanan atas untuk pengawasan assembly &amp; QC</a:t>
            </a:r>
          </a:p>
          <a:p>
            <a:pPr algn="just">
              <a:lnSpc>
                <a:spcPts val="3220"/>
              </a:lnSpc>
            </a:pPr>
            <a:endParaRPr lang="en-US" sz="23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220"/>
              </a:lnSpc>
              <a:spcBef>
                <a:spcPct val="0"/>
              </a:spcBef>
            </a:pPr>
            <a:endParaRPr lang="en-US" sz="23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42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54247" y="590746"/>
            <a:ext cx="16230600" cy="8229600"/>
            <a:chOff x="0" y="0"/>
            <a:chExt cx="427472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E0EA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274726" cy="21960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595225" y="1394215"/>
            <a:ext cx="11097550" cy="1283843"/>
            <a:chOff x="0" y="0"/>
            <a:chExt cx="2922812" cy="33813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922812" cy="338131"/>
            </a:xfrm>
            <a:custGeom>
              <a:avLst/>
              <a:gdLst/>
              <a:ahLst/>
              <a:cxnLst/>
              <a:rect l="l" t="t" r="r" b="b"/>
              <a:pathLst>
                <a:path w="2922812" h="338131">
                  <a:moveTo>
                    <a:pt x="35579" y="0"/>
                  </a:moveTo>
                  <a:lnTo>
                    <a:pt x="2887233" y="0"/>
                  </a:lnTo>
                  <a:cubicBezTo>
                    <a:pt x="2896669" y="0"/>
                    <a:pt x="2905718" y="3748"/>
                    <a:pt x="2912391" y="10421"/>
                  </a:cubicBezTo>
                  <a:cubicBezTo>
                    <a:pt x="2919063" y="17093"/>
                    <a:pt x="2922812" y="26143"/>
                    <a:pt x="2922812" y="35579"/>
                  </a:cubicBezTo>
                  <a:lnTo>
                    <a:pt x="2922812" y="302553"/>
                  </a:lnTo>
                  <a:cubicBezTo>
                    <a:pt x="2922812" y="311989"/>
                    <a:pt x="2919063" y="321038"/>
                    <a:pt x="2912391" y="327711"/>
                  </a:cubicBezTo>
                  <a:cubicBezTo>
                    <a:pt x="2905718" y="334383"/>
                    <a:pt x="2896669" y="338131"/>
                    <a:pt x="2887233" y="338131"/>
                  </a:cubicBezTo>
                  <a:lnTo>
                    <a:pt x="35579" y="338131"/>
                  </a:lnTo>
                  <a:cubicBezTo>
                    <a:pt x="26143" y="338131"/>
                    <a:pt x="17093" y="334383"/>
                    <a:pt x="10421" y="327711"/>
                  </a:cubicBezTo>
                  <a:cubicBezTo>
                    <a:pt x="3748" y="321038"/>
                    <a:pt x="0" y="311989"/>
                    <a:pt x="0" y="302553"/>
                  </a:cubicBezTo>
                  <a:lnTo>
                    <a:pt x="0" y="35579"/>
                  </a:lnTo>
                  <a:cubicBezTo>
                    <a:pt x="0" y="26143"/>
                    <a:pt x="3748" y="17093"/>
                    <a:pt x="10421" y="10421"/>
                  </a:cubicBezTo>
                  <a:cubicBezTo>
                    <a:pt x="17093" y="3748"/>
                    <a:pt x="26143" y="0"/>
                    <a:pt x="35579" y="0"/>
                  </a:cubicBezTo>
                  <a:close/>
                </a:path>
              </a:pathLst>
            </a:custGeom>
            <a:solidFill>
              <a:srgbClr val="3B425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95250"/>
              <a:ext cx="2922812" cy="433381"/>
            </a:xfrm>
            <a:prstGeom prst="rect">
              <a:avLst/>
            </a:prstGeom>
          </p:spPr>
          <p:txBody>
            <a:bodyPr lIns="12700" tIns="12700" rIns="12700" bIns="12700" rtlCol="0" anchor="ctr"/>
            <a:lstStyle/>
            <a:p>
              <a:pPr algn="ctr">
                <a:lnSpc>
                  <a:spcPts val="769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7297204" y="3276402"/>
            <a:ext cx="9607688" cy="2858287"/>
          </a:xfrm>
          <a:custGeom>
            <a:avLst/>
            <a:gdLst/>
            <a:ahLst/>
            <a:cxnLst/>
            <a:rect l="l" t="t" r="r" b="b"/>
            <a:pathLst>
              <a:path w="9607688" h="2858287">
                <a:moveTo>
                  <a:pt x="0" y="0"/>
                </a:moveTo>
                <a:lnTo>
                  <a:pt x="9607688" y="0"/>
                </a:lnTo>
                <a:lnTo>
                  <a:pt x="9607688" y="2858288"/>
                </a:lnTo>
                <a:lnTo>
                  <a:pt x="0" y="28582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855025" y="1591637"/>
            <a:ext cx="10577950" cy="927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sz="54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BLOCK LAYOUT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23704" y="5498245"/>
            <a:ext cx="7572185" cy="3087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44"/>
              </a:lnSpc>
            </a:pPr>
            <a:r>
              <a:rPr lang="en-US" sz="146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Gambaran Ukuran &amp; Posisi Departemen:</a:t>
            </a:r>
          </a:p>
          <a:p>
            <a:pPr algn="just">
              <a:lnSpc>
                <a:spcPts val="2044"/>
              </a:lnSpc>
            </a:pPr>
            <a:r>
              <a:rPr lang="en-US" sz="146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Table</a:t>
            </a:r>
          </a:p>
          <a:p>
            <a:pPr algn="just">
              <a:lnSpc>
                <a:spcPts val="2044"/>
              </a:lnSpc>
            </a:pPr>
            <a:r>
              <a:rPr lang="en-US" sz="146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Posisi Departemen Karakteristik</a:t>
            </a:r>
          </a:p>
          <a:p>
            <a:pPr algn="just">
              <a:lnSpc>
                <a:spcPts val="2044"/>
              </a:lnSpc>
            </a:pPr>
            <a:r>
              <a:rPr lang="en-US" sz="146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Tengah Atas K (Maintenance) Kotak kecil di atas C, D, E</a:t>
            </a:r>
          </a:p>
          <a:p>
            <a:pPr algn="just">
              <a:lnSpc>
                <a:spcPts val="2044"/>
              </a:lnSpc>
            </a:pPr>
            <a:r>
              <a:rPr lang="en-US" sz="146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Kanan Atas L (Kantor) Kotak di atas G dan H</a:t>
            </a:r>
          </a:p>
          <a:p>
            <a:pPr algn="just">
              <a:lnSpc>
                <a:spcPts val="2044"/>
              </a:lnSpc>
            </a:pPr>
            <a:r>
              <a:rPr lang="en-US" sz="146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Baris Utama A sampai J Kotak besar (area mesin &amp; produksi)</a:t>
            </a:r>
          </a:p>
          <a:p>
            <a:pPr algn="just">
              <a:lnSpc>
                <a:spcPts val="2044"/>
              </a:lnSpc>
            </a:pPr>
            <a:r>
              <a:rPr lang="en-US" sz="146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Alasan Penempatan:</a:t>
            </a:r>
          </a:p>
          <a:p>
            <a:pPr algn="just">
              <a:lnSpc>
                <a:spcPts val="2044"/>
              </a:lnSpc>
            </a:pPr>
            <a:r>
              <a:rPr lang="en-US" sz="146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 di tengah: Teknisi bisa turun ke kiri (B, C) atau kanan (D, E, F)</a:t>
            </a:r>
          </a:p>
          <a:p>
            <a:pPr algn="just">
              <a:lnSpc>
                <a:spcPts val="2044"/>
              </a:lnSpc>
            </a:pPr>
            <a:r>
              <a:rPr lang="en-US" sz="146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 di kanan atas: Supervisor lihat langsung G &amp; H, jauh dari mesin berisik</a:t>
            </a:r>
          </a:p>
          <a:p>
            <a:pPr algn="just">
              <a:lnSpc>
                <a:spcPts val="2044"/>
              </a:lnSpc>
            </a:pPr>
            <a:r>
              <a:rPr lang="en-US" sz="146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A-J besar: Tempat mesin dan aktivitas produksi</a:t>
            </a:r>
          </a:p>
          <a:p>
            <a:pPr algn="just">
              <a:lnSpc>
                <a:spcPts val="2044"/>
              </a:lnSpc>
            </a:pPr>
            <a:r>
              <a:rPr lang="en-US" sz="146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 &amp; L kecil: Hanya untuk orang dan peralatan kecil</a:t>
            </a:r>
          </a:p>
          <a:p>
            <a:pPr algn="just">
              <a:lnSpc>
                <a:spcPts val="2044"/>
              </a:lnSpc>
              <a:spcBef>
                <a:spcPct val="0"/>
              </a:spcBef>
            </a:pPr>
            <a:endParaRPr lang="en-US" sz="146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42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54247" y="590746"/>
            <a:ext cx="16230600" cy="8229600"/>
            <a:chOff x="0" y="0"/>
            <a:chExt cx="427472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E0EA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274726" cy="21960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595225" y="1394215"/>
            <a:ext cx="11097550" cy="1283843"/>
            <a:chOff x="0" y="0"/>
            <a:chExt cx="2922812" cy="33813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922812" cy="338131"/>
            </a:xfrm>
            <a:custGeom>
              <a:avLst/>
              <a:gdLst/>
              <a:ahLst/>
              <a:cxnLst/>
              <a:rect l="l" t="t" r="r" b="b"/>
              <a:pathLst>
                <a:path w="2922812" h="338131">
                  <a:moveTo>
                    <a:pt x="35579" y="0"/>
                  </a:moveTo>
                  <a:lnTo>
                    <a:pt x="2887233" y="0"/>
                  </a:lnTo>
                  <a:cubicBezTo>
                    <a:pt x="2896669" y="0"/>
                    <a:pt x="2905718" y="3748"/>
                    <a:pt x="2912391" y="10421"/>
                  </a:cubicBezTo>
                  <a:cubicBezTo>
                    <a:pt x="2919063" y="17093"/>
                    <a:pt x="2922812" y="26143"/>
                    <a:pt x="2922812" y="35579"/>
                  </a:cubicBezTo>
                  <a:lnTo>
                    <a:pt x="2922812" y="302553"/>
                  </a:lnTo>
                  <a:cubicBezTo>
                    <a:pt x="2922812" y="311989"/>
                    <a:pt x="2919063" y="321038"/>
                    <a:pt x="2912391" y="327711"/>
                  </a:cubicBezTo>
                  <a:cubicBezTo>
                    <a:pt x="2905718" y="334383"/>
                    <a:pt x="2896669" y="338131"/>
                    <a:pt x="2887233" y="338131"/>
                  </a:cubicBezTo>
                  <a:lnTo>
                    <a:pt x="35579" y="338131"/>
                  </a:lnTo>
                  <a:cubicBezTo>
                    <a:pt x="26143" y="338131"/>
                    <a:pt x="17093" y="334383"/>
                    <a:pt x="10421" y="327711"/>
                  </a:cubicBezTo>
                  <a:cubicBezTo>
                    <a:pt x="3748" y="321038"/>
                    <a:pt x="0" y="311989"/>
                    <a:pt x="0" y="302553"/>
                  </a:cubicBezTo>
                  <a:lnTo>
                    <a:pt x="0" y="35579"/>
                  </a:lnTo>
                  <a:cubicBezTo>
                    <a:pt x="0" y="26143"/>
                    <a:pt x="3748" y="17093"/>
                    <a:pt x="10421" y="10421"/>
                  </a:cubicBezTo>
                  <a:cubicBezTo>
                    <a:pt x="17093" y="3748"/>
                    <a:pt x="26143" y="0"/>
                    <a:pt x="35579" y="0"/>
                  </a:cubicBezTo>
                  <a:close/>
                </a:path>
              </a:pathLst>
            </a:custGeom>
            <a:solidFill>
              <a:srgbClr val="3B425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95250"/>
              <a:ext cx="2922812" cy="433381"/>
            </a:xfrm>
            <a:prstGeom prst="rect">
              <a:avLst/>
            </a:prstGeom>
          </p:spPr>
          <p:txBody>
            <a:bodyPr lIns="12700" tIns="12700" rIns="12700" bIns="12700" rtlCol="0" anchor="ctr"/>
            <a:lstStyle/>
            <a:p>
              <a:pPr algn="ctr">
                <a:lnSpc>
                  <a:spcPts val="769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892732" y="3910819"/>
            <a:ext cx="8321898" cy="2465362"/>
          </a:xfrm>
          <a:custGeom>
            <a:avLst/>
            <a:gdLst/>
            <a:ahLst/>
            <a:cxnLst/>
            <a:rect l="l" t="t" r="r" b="b"/>
            <a:pathLst>
              <a:path w="8321898" h="2465362">
                <a:moveTo>
                  <a:pt x="0" y="0"/>
                </a:moveTo>
                <a:lnTo>
                  <a:pt x="8321898" y="0"/>
                </a:lnTo>
                <a:lnTo>
                  <a:pt x="8321898" y="2465362"/>
                </a:lnTo>
                <a:lnTo>
                  <a:pt x="0" y="24653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855025" y="1591637"/>
            <a:ext cx="10577950" cy="927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sz="54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LINEAR LAYOUT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45756" y="3484309"/>
            <a:ext cx="6513544" cy="4122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44"/>
              </a:lnSpc>
            </a:pPr>
            <a:r>
              <a:rPr lang="en-US" sz="196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Bentuk: Satu baris panjang dari kiri ke kanan</a:t>
            </a:r>
          </a:p>
          <a:p>
            <a:pPr algn="just">
              <a:lnSpc>
                <a:spcPts val="2744"/>
              </a:lnSpc>
            </a:pPr>
            <a:r>
              <a:rPr lang="en-US" sz="196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Kelebihan:</a:t>
            </a:r>
          </a:p>
          <a:p>
            <a:pPr algn="just">
              <a:lnSpc>
                <a:spcPts val="2744"/>
              </a:lnSpc>
            </a:pPr>
            <a:r>
              <a:rPr lang="en-US" sz="196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Simpel, tidak ada jalur silang</a:t>
            </a:r>
          </a:p>
          <a:p>
            <a:pPr algn="just">
              <a:lnSpc>
                <a:spcPts val="2744"/>
              </a:lnSpc>
            </a:pPr>
            <a:r>
              <a:rPr lang="en-US" sz="196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Mudah diawasi (satu arah)</a:t>
            </a:r>
          </a:p>
          <a:p>
            <a:pPr algn="just">
              <a:lnSpc>
                <a:spcPts val="2744"/>
              </a:lnSpc>
            </a:pPr>
            <a:r>
              <a:rPr lang="en-US" sz="196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Training karyawan mudah</a:t>
            </a:r>
          </a:p>
          <a:p>
            <a:pPr algn="just">
              <a:lnSpc>
                <a:spcPts val="2744"/>
              </a:lnSpc>
            </a:pPr>
            <a:r>
              <a:rPr lang="en-US" sz="196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Alur material lurus tanpa belokan</a:t>
            </a:r>
          </a:p>
          <a:p>
            <a:pPr algn="just">
              <a:lnSpc>
                <a:spcPts val="2744"/>
              </a:lnSpc>
            </a:pPr>
            <a:r>
              <a:rPr lang="en-US" sz="196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Kekurangan:</a:t>
            </a:r>
          </a:p>
          <a:p>
            <a:pPr algn="just">
              <a:lnSpc>
                <a:spcPts val="2744"/>
              </a:lnSpc>
            </a:pPr>
            <a:r>
              <a:rPr lang="en-US" sz="196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❌ Panjang banget, jalan kaki jauh</a:t>
            </a:r>
          </a:p>
          <a:p>
            <a:pPr algn="just">
              <a:lnSpc>
                <a:spcPts val="2744"/>
              </a:lnSpc>
            </a:pPr>
            <a:r>
              <a:rPr lang="en-US" sz="196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❌ Maintenance harus jalan jauh ke ujung-ujung</a:t>
            </a:r>
          </a:p>
          <a:p>
            <a:pPr algn="just">
              <a:lnSpc>
                <a:spcPts val="2744"/>
              </a:lnSpc>
            </a:pPr>
            <a:r>
              <a:rPr lang="en-US" sz="196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❌ Boros tanah kalau lahan mahal</a:t>
            </a:r>
          </a:p>
          <a:p>
            <a:pPr algn="just">
              <a:lnSpc>
                <a:spcPts val="2744"/>
              </a:lnSpc>
            </a:pPr>
            <a:endParaRPr lang="en-US" sz="196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744"/>
              </a:lnSpc>
              <a:spcBef>
                <a:spcPct val="0"/>
              </a:spcBef>
            </a:pPr>
            <a:endParaRPr lang="en-US" sz="196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42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E0EA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274726" cy="21960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595225" y="1394215"/>
            <a:ext cx="11097550" cy="1283843"/>
            <a:chOff x="0" y="0"/>
            <a:chExt cx="2922812" cy="33813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922812" cy="338131"/>
            </a:xfrm>
            <a:custGeom>
              <a:avLst/>
              <a:gdLst/>
              <a:ahLst/>
              <a:cxnLst/>
              <a:rect l="l" t="t" r="r" b="b"/>
              <a:pathLst>
                <a:path w="2922812" h="338131">
                  <a:moveTo>
                    <a:pt x="35579" y="0"/>
                  </a:moveTo>
                  <a:lnTo>
                    <a:pt x="2887233" y="0"/>
                  </a:lnTo>
                  <a:cubicBezTo>
                    <a:pt x="2896669" y="0"/>
                    <a:pt x="2905718" y="3748"/>
                    <a:pt x="2912391" y="10421"/>
                  </a:cubicBezTo>
                  <a:cubicBezTo>
                    <a:pt x="2919063" y="17093"/>
                    <a:pt x="2922812" y="26143"/>
                    <a:pt x="2922812" y="35579"/>
                  </a:cubicBezTo>
                  <a:lnTo>
                    <a:pt x="2922812" y="302553"/>
                  </a:lnTo>
                  <a:cubicBezTo>
                    <a:pt x="2922812" y="311989"/>
                    <a:pt x="2919063" y="321038"/>
                    <a:pt x="2912391" y="327711"/>
                  </a:cubicBezTo>
                  <a:cubicBezTo>
                    <a:pt x="2905718" y="334383"/>
                    <a:pt x="2896669" y="338131"/>
                    <a:pt x="2887233" y="338131"/>
                  </a:cubicBezTo>
                  <a:lnTo>
                    <a:pt x="35579" y="338131"/>
                  </a:lnTo>
                  <a:cubicBezTo>
                    <a:pt x="26143" y="338131"/>
                    <a:pt x="17093" y="334383"/>
                    <a:pt x="10421" y="327711"/>
                  </a:cubicBezTo>
                  <a:cubicBezTo>
                    <a:pt x="3748" y="321038"/>
                    <a:pt x="0" y="311989"/>
                    <a:pt x="0" y="302553"/>
                  </a:cubicBezTo>
                  <a:lnTo>
                    <a:pt x="0" y="35579"/>
                  </a:lnTo>
                  <a:cubicBezTo>
                    <a:pt x="0" y="26143"/>
                    <a:pt x="3748" y="17093"/>
                    <a:pt x="10421" y="10421"/>
                  </a:cubicBezTo>
                  <a:cubicBezTo>
                    <a:pt x="17093" y="3748"/>
                    <a:pt x="26143" y="0"/>
                    <a:pt x="35579" y="0"/>
                  </a:cubicBezTo>
                  <a:close/>
                </a:path>
              </a:pathLst>
            </a:custGeom>
            <a:solidFill>
              <a:srgbClr val="3B425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95250"/>
              <a:ext cx="2922812" cy="433381"/>
            </a:xfrm>
            <a:prstGeom prst="rect">
              <a:avLst/>
            </a:prstGeom>
          </p:spPr>
          <p:txBody>
            <a:bodyPr lIns="12700" tIns="12700" rIns="12700" bIns="12700" rtlCol="0" anchor="ctr"/>
            <a:lstStyle/>
            <a:p>
              <a:pPr algn="ctr">
                <a:lnSpc>
                  <a:spcPts val="769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2211130" y="2921289"/>
            <a:ext cx="6123584" cy="5893688"/>
          </a:xfrm>
          <a:custGeom>
            <a:avLst/>
            <a:gdLst/>
            <a:ahLst/>
            <a:cxnLst/>
            <a:rect l="l" t="t" r="r" b="b"/>
            <a:pathLst>
              <a:path w="6123584" h="5893688">
                <a:moveTo>
                  <a:pt x="0" y="0"/>
                </a:moveTo>
                <a:lnTo>
                  <a:pt x="6123583" y="0"/>
                </a:lnTo>
                <a:lnTo>
                  <a:pt x="6123583" y="5893688"/>
                </a:lnTo>
                <a:lnTo>
                  <a:pt x="0" y="58936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855025" y="1591637"/>
            <a:ext cx="10577950" cy="927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sz="54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 - SHAPE LAYOUT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44000" y="2873664"/>
            <a:ext cx="6880699" cy="5973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43"/>
              </a:lnSpc>
            </a:pPr>
            <a:r>
              <a:rPr lang="en-US" sz="181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Bentuk: Huruf U dengan K di tengah</a:t>
            </a:r>
          </a:p>
          <a:p>
            <a:pPr algn="just">
              <a:lnSpc>
                <a:spcPts val="2543"/>
              </a:lnSpc>
            </a:pPr>
            <a:endParaRPr lang="en-US" sz="1816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543"/>
              </a:lnSpc>
            </a:pPr>
            <a:r>
              <a:rPr lang="en-US" sz="181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Susunan:</a:t>
            </a:r>
          </a:p>
          <a:p>
            <a:pPr algn="just">
              <a:lnSpc>
                <a:spcPts val="2543"/>
              </a:lnSpc>
            </a:pPr>
            <a:r>
              <a:rPr lang="en-US" sz="181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Kiri atas ke bawah: A → B → C → D → E</a:t>
            </a:r>
          </a:p>
          <a:p>
            <a:pPr algn="just">
              <a:lnSpc>
                <a:spcPts val="2543"/>
              </a:lnSpc>
            </a:pPr>
            <a:r>
              <a:rPr lang="en-US" sz="181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Bawah tengah: F (penghubung)</a:t>
            </a:r>
          </a:p>
          <a:p>
            <a:pPr algn="just">
              <a:lnSpc>
                <a:spcPts val="2543"/>
              </a:lnSpc>
            </a:pPr>
            <a:r>
              <a:rPr lang="en-US" sz="181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Kanan bawah ke atas: G → H → I → J</a:t>
            </a:r>
          </a:p>
          <a:p>
            <a:pPr algn="just">
              <a:lnSpc>
                <a:spcPts val="2543"/>
              </a:lnSpc>
            </a:pPr>
            <a:r>
              <a:rPr lang="en-US" sz="181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Tengah U: K (Maintenance)</a:t>
            </a:r>
          </a:p>
          <a:p>
            <a:pPr algn="just">
              <a:lnSpc>
                <a:spcPts val="2543"/>
              </a:lnSpc>
            </a:pPr>
            <a:r>
              <a:rPr lang="en-US" sz="181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Kanan atas: L (Kantor)</a:t>
            </a:r>
          </a:p>
          <a:p>
            <a:pPr algn="just">
              <a:lnSpc>
                <a:spcPts val="2543"/>
              </a:lnSpc>
            </a:pPr>
            <a:endParaRPr lang="en-US" sz="1816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543"/>
              </a:lnSpc>
            </a:pPr>
            <a:r>
              <a:rPr lang="en-US" sz="181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Kelebihan:</a:t>
            </a:r>
          </a:p>
          <a:p>
            <a:pPr algn="just">
              <a:lnSpc>
                <a:spcPts val="2543"/>
              </a:lnSpc>
            </a:pPr>
            <a:r>
              <a:rPr lang="en-US" sz="181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Hemat ruang 25-35% (lebih compact)</a:t>
            </a:r>
          </a:p>
          <a:p>
            <a:pPr algn="just">
              <a:lnSpc>
                <a:spcPts val="2543"/>
              </a:lnSpc>
            </a:pPr>
            <a:r>
              <a:rPr lang="en-US" sz="181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Maintenance paling cepat sampai ke mesin mana pun</a:t>
            </a:r>
          </a:p>
          <a:p>
            <a:pPr algn="just">
              <a:lnSpc>
                <a:spcPts val="2543"/>
              </a:lnSpc>
            </a:pPr>
            <a:r>
              <a:rPr lang="en-US" sz="181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Awal (A) dan akhir (J) dekat (mudah koordinasi)</a:t>
            </a:r>
          </a:p>
          <a:p>
            <a:pPr algn="just">
              <a:lnSpc>
                <a:spcPts val="2543"/>
              </a:lnSpc>
            </a:pPr>
            <a:r>
              <a:rPr lang="en-US" sz="181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Bisa expand ke samping</a:t>
            </a:r>
          </a:p>
          <a:p>
            <a:pPr algn="just">
              <a:lnSpc>
                <a:spcPts val="2543"/>
              </a:lnSpc>
            </a:pPr>
            <a:endParaRPr lang="en-US" sz="1816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543"/>
              </a:lnSpc>
            </a:pPr>
            <a:r>
              <a:rPr lang="en-US" sz="181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Kekurangan:</a:t>
            </a:r>
          </a:p>
          <a:p>
            <a:pPr algn="just">
              <a:lnSpc>
                <a:spcPts val="2543"/>
              </a:lnSpc>
            </a:pPr>
            <a:r>
              <a:rPr lang="en-US" sz="181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❌ Ada belokan di tengah (F) bisa macet</a:t>
            </a:r>
          </a:p>
          <a:p>
            <a:pPr algn="just">
              <a:lnSpc>
                <a:spcPts val="2543"/>
              </a:lnSpc>
            </a:pPr>
            <a:r>
              <a:rPr lang="en-US" sz="181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❌ Perlu perencanaan lebih detail</a:t>
            </a:r>
          </a:p>
          <a:p>
            <a:pPr algn="just">
              <a:lnSpc>
                <a:spcPts val="2543"/>
              </a:lnSpc>
              <a:spcBef>
                <a:spcPct val="0"/>
              </a:spcBef>
            </a:pPr>
            <a:endParaRPr lang="en-US" sz="1816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42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E0EA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274726" cy="21960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595225" y="1394215"/>
            <a:ext cx="11097550" cy="1283843"/>
            <a:chOff x="0" y="0"/>
            <a:chExt cx="2922812" cy="33813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922812" cy="338131"/>
            </a:xfrm>
            <a:custGeom>
              <a:avLst/>
              <a:gdLst/>
              <a:ahLst/>
              <a:cxnLst/>
              <a:rect l="l" t="t" r="r" b="b"/>
              <a:pathLst>
                <a:path w="2922812" h="338131">
                  <a:moveTo>
                    <a:pt x="35579" y="0"/>
                  </a:moveTo>
                  <a:lnTo>
                    <a:pt x="2887233" y="0"/>
                  </a:lnTo>
                  <a:cubicBezTo>
                    <a:pt x="2896669" y="0"/>
                    <a:pt x="2905718" y="3748"/>
                    <a:pt x="2912391" y="10421"/>
                  </a:cubicBezTo>
                  <a:cubicBezTo>
                    <a:pt x="2919063" y="17093"/>
                    <a:pt x="2922812" y="26143"/>
                    <a:pt x="2922812" y="35579"/>
                  </a:cubicBezTo>
                  <a:lnTo>
                    <a:pt x="2922812" y="302553"/>
                  </a:lnTo>
                  <a:cubicBezTo>
                    <a:pt x="2922812" y="311989"/>
                    <a:pt x="2919063" y="321038"/>
                    <a:pt x="2912391" y="327711"/>
                  </a:cubicBezTo>
                  <a:cubicBezTo>
                    <a:pt x="2905718" y="334383"/>
                    <a:pt x="2896669" y="338131"/>
                    <a:pt x="2887233" y="338131"/>
                  </a:cubicBezTo>
                  <a:lnTo>
                    <a:pt x="35579" y="338131"/>
                  </a:lnTo>
                  <a:cubicBezTo>
                    <a:pt x="26143" y="338131"/>
                    <a:pt x="17093" y="334383"/>
                    <a:pt x="10421" y="327711"/>
                  </a:cubicBezTo>
                  <a:cubicBezTo>
                    <a:pt x="3748" y="321038"/>
                    <a:pt x="0" y="311989"/>
                    <a:pt x="0" y="302553"/>
                  </a:cubicBezTo>
                  <a:lnTo>
                    <a:pt x="0" y="35579"/>
                  </a:lnTo>
                  <a:cubicBezTo>
                    <a:pt x="0" y="26143"/>
                    <a:pt x="3748" y="17093"/>
                    <a:pt x="10421" y="10421"/>
                  </a:cubicBezTo>
                  <a:cubicBezTo>
                    <a:pt x="17093" y="3748"/>
                    <a:pt x="26143" y="0"/>
                    <a:pt x="35579" y="0"/>
                  </a:cubicBezTo>
                  <a:close/>
                </a:path>
              </a:pathLst>
            </a:custGeom>
            <a:solidFill>
              <a:srgbClr val="3B425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95250"/>
              <a:ext cx="2922812" cy="433381"/>
            </a:xfrm>
            <a:prstGeom prst="rect">
              <a:avLst/>
            </a:prstGeom>
          </p:spPr>
          <p:txBody>
            <a:bodyPr lIns="12700" tIns="12700" rIns="12700" bIns="12700" rtlCol="0" anchor="ctr"/>
            <a:lstStyle/>
            <a:p>
              <a:pPr algn="ctr">
                <a:lnSpc>
                  <a:spcPts val="769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444441" y="3014261"/>
            <a:ext cx="7923201" cy="5800717"/>
          </a:xfrm>
          <a:custGeom>
            <a:avLst/>
            <a:gdLst/>
            <a:ahLst/>
            <a:cxnLst/>
            <a:rect l="l" t="t" r="r" b="b"/>
            <a:pathLst>
              <a:path w="7923201" h="5800717">
                <a:moveTo>
                  <a:pt x="0" y="0"/>
                </a:moveTo>
                <a:lnTo>
                  <a:pt x="7923201" y="0"/>
                </a:lnTo>
                <a:lnTo>
                  <a:pt x="7923201" y="5800716"/>
                </a:lnTo>
                <a:lnTo>
                  <a:pt x="0" y="58007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855025" y="1591637"/>
            <a:ext cx="10577950" cy="927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sz="54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ZIG-ZAG LAYOUT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870837" y="3155645"/>
            <a:ext cx="6880699" cy="5659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43"/>
              </a:lnSpc>
            </a:pPr>
            <a:r>
              <a:rPr lang="en-US" sz="181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Bentuk: Berliku seperti ular, 4 baris</a:t>
            </a:r>
          </a:p>
          <a:p>
            <a:pPr algn="just">
              <a:lnSpc>
                <a:spcPts val="2543"/>
              </a:lnSpc>
            </a:pPr>
            <a:r>
              <a:rPr lang="en-US" sz="181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Susunan:</a:t>
            </a:r>
          </a:p>
          <a:p>
            <a:pPr algn="just">
              <a:lnSpc>
                <a:spcPts val="2543"/>
              </a:lnSpc>
            </a:pPr>
            <a:endParaRPr lang="en-US" sz="1816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543"/>
              </a:lnSpc>
            </a:pPr>
            <a:r>
              <a:rPr lang="en-US" sz="181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Baris 1 (atas): A → B → C (kiri ke kanan)</a:t>
            </a:r>
          </a:p>
          <a:p>
            <a:pPr algn="just">
              <a:lnSpc>
                <a:spcPts val="2543"/>
              </a:lnSpc>
            </a:pPr>
            <a:r>
              <a:rPr lang="en-US" sz="181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Baris 2: D → E (kanan ke kiri)</a:t>
            </a:r>
          </a:p>
          <a:p>
            <a:pPr algn="just">
              <a:lnSpc>
                <a:spcPts val="2543"/>
              </a:lnSpc>
            </a:pPr>
            <a:r>
              <a:rPr lang="en-US" sz="181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Baris 3: F → G (kiri ke kanan)</a:t>
            </a:r>
          </a:p>
          <a:p>
            <a:pPr algn="just">
              <a:lnSpc>
                <a:spcPts val="2543"/>
              </a:lnSpc>
            </a:pPr>
            <a:r>
              <a:rPr lang="en-US" sz="181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Baris 4 (bawah): H → I → J (kanan ke kiri)</a:t>
            </a:r>
          </a:p>
          <a:p>
            <a:pPr algn="just">
              <a:lnSpc>
                <a:spcPts val="2543"/>
              </a:lnSpc>
            </a:pPr>
            <a:endParaRPr lang="en-US" sz="1816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543"/>
              </a:lnSpc>
            </a:pPr>
            <a:r>
              <a:rPr lang="en-US" sz="181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Kelebihan:</a:t>
            </a:r>
          </a:p>
          <a:p>
            <a:pPr algn="just">
              <a:lnSpc>
                <a:spcPts val="2543"/>
              </a:lnSpc>
            </a:pPr>
            <a:r>
              <a:rPr lang="en-US" sz="181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Cocok untuk ruang kotak (lahan lebar tidak panjang)</a:t>
            </a:r>
          </a:p>
          <a:p>
            <a:pPr algn="just">
              <a:lnSpc>
                <a:spcPts val="2543"/>
              </a:lnSpc>
            </a:pPr>
            <a:r>
              <a:rPr lang="en-US" sz="181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Pisah area kotor (atas) dan bersih (bawah)</a:t>
            </a:r>
          </a:p>
          <a:p>
            <a:pPr algn="just">
              <a:lnSpc>
                <a:spcPts val="2543"/>
              </a:lnSpc>
            </a:pPr>
            <a:r>
              <a:rPr lang="en-US" sz="181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Fleksibel mengikuti bentuk bangunan</a:t>
            </a:r>
          </a:p>
          <a:p>
            <a:pPr algn="just">
              <a:lnSpc>
                <a:spcPts val="2543"/>
              </a:lnSpc>
            </a:pPr>
            <a:endParaRPr lang="en-US" sz="1816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543"/>
              </a:lnSpc>
            </a:pPr>
            <a:r>
              <a:rPr lang="en-US" sz="181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Kekurangan:</a:t>
            </a:r>
          </a:p>
          <a:p>
            <a:pPr algn="just">
              <a:lnSpc>
                <a:spcPts val="2543"/>
              </a:lnSpc>
            </a:pPr>
            <a:r>
              <a:rPr lang="en-US" sz="181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❌ Banyak belokan, alur ribet</a:t>
            </a:r>
          </a:p>
          <a:p>
            <a:pPr algn="just">
              <a:lnSpc>
                <a:spcPts val="2543"/>
              </a:lnSpc>
            </a:pPr>
            <a:r>
              <a:rPr lang="en-US" sz="181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❌ Material handling susah (sering putar arah)</a:t>
            </a:r>
          </a:p>
          <a:p>
            <a:pPr algn="just">
              <a:lnSpc>
                <a:spcPts val="2543"/>
              </a:lnSpc>
            </a:pPr>
            <a:r>
              <a:rPr lang="en-US" sz="181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❌ Maintenance harus naik-turun baris</a:t>
            </a:r>
          </a:p>
          <a:p>
            <a:pPr algn="just">
              <a:lnSpc>
                <a:spcPts val="2543"/>
              </a:lnSpc>
              <a:spcBef>
                <a:spcPct val="0"/>
              </a:spcBef>
            </a:pPr>
            <a:endParaRPr lang="en-US" sz="1816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42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E0EA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274726" cy="21960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1028700"/>
            <a:ext cx="16230600" cy="8229600"/>
          </a:xfrm>
          <a:custGeom>
            <a:avLst/>
            <a:gdLst/>
            <a:ahLst/>
            <a:cxnLst/>
            <a:rect l="l" t="t" r="r" b="b"/>
            <a:pathLst>
              <a:path w="16230600" h="8229600">
                <a:moveTo>
                  <a:pt x="0" y="0"/>
                </a:moveTo>
                <a:lnTo>
                  <a:pt x="16230600" y="0"/>
                </a:lnTo>
                <a:lnTo>
                  <a:pt x="16230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</a:blip>
            <a:stretch>
              <a:fillRect t="-12808" b="-18590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4846692" y="2019876"/>
            <a:ext cx="8594616" cy="6497539"/>
            <a:chOff x="0" y="0"/>
            <a:chExt cx="2263603" cy="171128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63603" cy="1711286"/>
            </a:xfrm>
            <a:custGeom>
              <a:avLst/>
              <a:gdLst/>
              <a:ahLst/>
              <a:cxnLst/>
              <a:rect l="l" t="t" r="r" b="b"/>
              <a:pathLst>
                <a:path w="2263603" h="1711286">
                  <a:moveTo>
                    <a:pt x="45940" y="0"/>
                  </a:moveTo>
                  <a:lnTo>
                    <a:pt x="2217662" y="0"/>
                  </a:lnTo>
                  <a:cubicBezTo>
                    <a:pt x="2229846" y="0"/>
                    <a:pt x="2241532" y="4840"/>
                    <a:pt x="2250147" y="13456"/>
                  </a:cubicBezTo>
                  <a:cubicBezTo>
                    <a:pt x="2258763" y="22071"/>
                    <a:pt x="2263603" y="33756"/>
                    <a:pt x="2263603" y="45940"/>
                  </a:cubicBezTo>
                  <a:lnTo>
                    <a:pt x="2263603" y="1665346"/>
                  </a:lnTo>
                  <a:cubicBezTo>
                    <a:pt x="2263603" y="1690718"/>
                    <a:pt x="2243034" y="1711286"/>
                    <a:pt x="2217662" y="1711286"/>
                  </a:cubicBezTo>
                  <a:lnTo>
                    <a:pt x="45940" y="1711286"/>
                  </a:lnTo>
                  <a:cubicBezTo>
                    <a:pt x="33756" y="1711286"/>
                    <a:pt x="22071" y="1706446"/>
                    <a:pt x="13456" y="1697830"/>
                  </a:cubicBezTo>
                  <a:cubicBezTo>
                    <a:pt x="4840" y="1689215"/>
                    <a:pt x="0" y="1677530"/>
                    <a:pt x="0" y="1665346"/>
                  </a:cubicBezTo>
                  <a:lnTo>
                    <a:pt x="0" y="45940"/>
                  </a:lnTo>
                  <a:cubicBezTo>
                    <a:pt x="0" y="33756"/>
                    <a:pt x="4840" y="22071"/>
                    <a:pt x="13456" y="13456"/>
                  </a:cubicBezTo>
                  <a:cubicBezTo>
                    <a:pt x="22071" y="4840"/>
                    <a:pt x="33756" y="0"/>
                    <a:pt x="45940" y="0"/>
                  </a:cubicBezTo>
                  <a:close/>
                </a:path>
              </a:pathLst>
            </a:custGeom>
            <a:solidFill>
              <a:srgbClr val="3B425E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2263603" cy="17398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0" y="0"/>
            <a:ext cx="5342224" cy="6108572"/>
          </a:xfrm>
          <a:custGeom>
            <a:avLst/>
            <a:gdLst/>
            <a:ahLst/>
            <a:cxnLst/>
            <a:rect l="l" t="t" r="r" b="b"/>
            <a:pathLst>
              <a:path w="5342224" h="6108572">
                <a:moveTo>
                  <a:pt x="0" y="0"/>
                </a:moveTo>
                <a:lnTo>
                  <a:pt x="5342224" y="0"/>
                </a:lnTo>
                <a:lnTo>
                  <a:pt x="5342224" y="6108572"/>
                </a:lnTo>
                <a:lnTo>
                  <a:pt x="0" y="61085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flipH="1" flipV="1">
            <a:off x="14088831" y="5625091"/>
            <a:ext cx="4199169" cy="4801545"/>
          </a:xfrm>
          <a:custGeom>
            <a:avLst/>
            <a:gdLst/>
            <a:ahLst/>
            <a:cxnLst/>
            <a:rect l="l" t="t" r="r" b="b"/>
            <a:pathLst>
              <a:path w="4199169" h="4801545">
                <a:moveTo>
                  <a:pt x="4199169" y="4801545"/>
                </a:moveTo>
                <a:lnTo>
                  <a:pt x="0" y="4801545"/>
                </a:lnTo>
                <a:lnTo>
                  <a:pt x="0" y="0"/>
                </a:lnTo>
                <a:lnTo>
                  <a:pt x="4199169" y="0"/>
                </a:lnTo>
                <a:lnTo>
                  <a:pt x="4199169" y="480154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5152131" y="4081088"/>
            <a:ext cx="7983738" cy="1297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56"/>
              </a:lnSpc>
            </a:pPr>
            <a:r>
              <a:rPr lang="en-US" sz="3754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PEMILIHAN </a:t>
            </a:r>
          </a:p>
          <a:p>
            <a:pPr algn="ctr">
              <a:lnSpc>
                <a:spcPts val="5256"/>
              </a:lnSpc>
              <a:spcBef>
                <a:spcPct val="0"/>
              </a:spcBef>
            </a:pPr>
            <a:r>
              <a:rPr lang="en-US" sz="3754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LAYOUT TERBAIK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775507" y="6003797"/>
            <a:ext cx="7360362" cy="672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39"/>
              </a:lnSpc>
              <a:spcBef>
                <a:spcPct val="0"/>
              </a:spcBef>
            </a:pPr>
            <a:r>
              <a:rPr lang="en-US" sz="3742" b="1" spc="12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U-SHAPE LAYOUT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42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43069" y="1028700"/>
            <a:ext cx="16230600" cy="8229600"/>
            <a:chOff x="0" y="0"/>
            <a:chExt cx="427472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E0EA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274726" cy="21960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595225" y="1394215"/>
            <a:ext cx="11097550" cy="1283843"/>
            <a:chOff x="0" y="0"/>
            <a:chExt cx="2922812" cy="33813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922812" cy="338131"/>
            </a:xfrm>
            <a:custGeom>
              <a:avLst/>
              <a:gdLst/>
              <a:ahLst/>
              <a:cxnLst/>
              <a:rect l="l" t="t" r="r" b="b"/>
              <a:pathLst>
                <a:path w="2922812" h="338131">
                  <a:moveTo>
                    <a:pt x="35579" y="0"/>
                  </a:moveTo>
                  <a:lnTo>
                    <a:pt x="2887233" y="0"/>
                  </a:lnTo>
                  <a:cubicBezTo>
                    <a:pt x="2896669" y="0"/>
                    <a:pt x="2905718" y="3748"/>
                    <a:pt x="2912391" y="10421"/>
                  </a:cubicBezTo>
                  <a:cubicBezTo>
                    <a:pt x="2919063" y="17093"/>
                    <a:pt x="2922812" y="26143"/>
                    <a:pt x="2922812" y="35579"/>
                  </a:cubicBezTo>
                  <a:lnTo>
                    <a:pt x="2922812" y="302553"/>
                  </a:lnTo>
                  <a:cubicBezTo>
                    <a:pt x="2922812" y="311989"/>
                    <a:pt x="2919063" y="321038"/>
                    <a:pt x="2912391" y="327711"/>
                  </a:cubicBezTo>
                  <a:cubicBezTo>
                    <a:pt x="2905718" y="334383"/>
                    <a:pt x="2896669" y="338131"/>
                    <a:pt x="2887233" y="338131"/>
                  </a:cubicBezTo>
                  <a:lnTo>
                    <a:pt x="35579" y="338131"/>
                  </a:lnTo>
                  <a:cubicBezTo>
                    <a:pt x="26143" y="338131"/>
                    <a:pt x="17093" y="334383"/>
                    <a:pt x="10421" y="327711"/>
                  </a:cubicBezTo>
                  <a:cubicBezTo>
                    <a:pt x="3748" y="321038"/>
                    <a:pt x="0" y="311989"/>
                    <a:pt x="0" y="302553"/>
                  </a:cubicBezTo>
                  <a:lnTo>
                    <a:pt x="0" y="35579"/>
                  </a:lnTo>
                  <a:cubicBezTo>
                    <a:pt x="0" y="26143"/>
                    <a:pt x="3748" y="17093"/>
                    <a:pt x="10421" y="10421"/>
                  </a:cubicBezTo>
                  <a:cubicBezTo>
                    <a:pt x="17093" y="3748"/>
                    <a:pt x="26143" y="0"/>
                    <a:pt x="35579" y="0"/>
                  </a:cubicBezTo>
                  <a:close/>
                </a:path>
              </a:pathLst>
            </a:custGeom>
            <a:solidFill>
              <a:srgbClr val="3B425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95250"/>
              <a:ext cx="2922812" cy="433381"/>
            </a:xfrm>
            <a:prstGeom prst="rect">
              <a:avLst/>
            </a:prstGeom>
          </p:spPr>
          <p:txBody>
            <a:bodyPr lIns="12700" tIns="12700" rIns="12700" bIns="12700" rtlCol="0" anchor="ctr"/>
            <a:lstStyle/>
            <a:p>
              <a:pPr algn="ctr">
                <a:lnSpc>
                  <a:spcPts val="769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855025" y="1610687"/>
            <a:ext cx="10006687" cy="675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49"/>
              </a:lnSpc>
              <a:spcBef>
                <a:spcPct val="0"/>
              </a:spcBef>
            </a:pPr>
            <a:r>
              <a:rPr lang="en-US" sz="396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LAYOUT TERBAIK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18332" y="3218470"/>
            <a:ext cx="7140037" cy="5030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2"/>
              </a:lnSpc>
            </a:pPr>
            <a:r>
              <a:rPr lang="en-US" sz="180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Layout Terpilih : U-SHAPE</a:t>
            </a:r>
          </a:p>
          <a:p>
            <a:pPr algn="just">
              <a:lnSpc>
                <a:spcPts val="2522"/>
              </a:lnSpc>
            </a:pPr>
            <a:endParaRPr lang="en-US" sz="180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522"/>
              </a:lnSpc>
            </a:pPr>
            <a:r>
              <a:rPr lang="en-US" sz="180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4 Alasan Utama:</a:t>
            </a:r>
          </a:p>
          <a:p>
            <a:pPr algn="just">
              <a:lnSpc>
                <a:spcPts val="2055"/>
              </a:lnSpc>
            </a:pPr>
            <a:endParaRPr lang="en-US" sz="180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522"/>
              </a:lnSpc>
            </a:pPr>
            <a:r>
              <a:rPr lang="en-US" sz="180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Posisi Maintenance Optimal K di tengah U → rata-rata waktu respon 2-3 menit (vs 5-7 menit di Linear)</a:t>
            </a:r>
          </a:p>
          <a:p>
            <a:pPr algn="just">
              <a:lnSpc>
                <a:spcPts val="2522"/>
              </a:lnSpc>
            </a:pPr>
            <a:endParaRPr lang="en-US" sz="180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522"/>
              </a:lnSpc>
            </a:pPr>
            <a:r>
              <a:rPr lang="en-US" sz="180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Efisiensi Ruang Tinggi Hemat 25-35% luas tanah dibanding Linear</a:t>
            </a:r>
          </a:p>
          <a:p>
            <a:pPr algn="just">
              <a:lnSpc>
                <a:spcPts val="2522"/>
              </a:lnSpc>
            </a:pPr>
            <a:endParaRPr lang="en-US" sz="180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522"/>
              </a:lnSpc>
            </a:pPr>
            <a:r>
              <a:rPr lang="en-US" sz="180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Integrasi Awal &amp; Akhir A dan J di sisi sama → truk tidak perlu mengelilingi pabrik</a:t>
            </a:r>
          </a:p>
          <a:p>
            <a:pPr algn="just">
              <a:lnSpc>
                <a:spcPts val="2522"/>
              </a:lnSpc>
            </a:pPr>
            <a:endParaRPr lang="en-US" sz="180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522"/>
              </a:lnSpc>
            </a:pPr>
            <a:r>
              <a:rPr lang="en-US" sz="180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Pengawasan Efektif L punya line of sight ke G &amp; H, akses cepat ke F</a:t>
            </a:r>
          </a:p>
          <a:p>
            <a:pPr algn="just">
              <a:lnSpc>
                <a:spcPts val="2522"/>
              </a:lnSpc>
              <a:spcBef>
                <a:spcPct val="0"/>
              </a:spcBef>
            </a:pPr>
            <a:endParaRPr lang="en-US" sz="180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10306279" y="3237848"/>
            <a:ext cx="5245867" cy="5048923"/>
          </a:xfrm>
          <a:custGeom>
            <a:avLst/>
            <a:gdLst/>
            <a:ahLst/>
            <a:cxnLst/>
            <a:rect l="l" t="t" r="r" b="b"/>
            <a:pathLst>
              <a:path w="5245867" h="5048923">
                <a:moveTo>
                  <a:pt x="0" y="0"/>
                </a:moveTo>
                <a:lnTo>
                  <a:pt x="5245867" y="0"/>
                </a:lnTo>
                <a:lnTo>
                  <a:pt x="5245867" y="5048923"/>
                </a:lnTo>
                <a:lnTo>
                  <a:pt x="0" y="50489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42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E0EA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274726" cy="21960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1028700"/>
            <a:ext cx="16230600" cy="8229600"/>
          </a:xfrm>
          <a:custGeom>
            <a:avLst/>
            <a:gdLst/>
            <a:ahLst/>
            <a:cxnLst/>
            <a:rect l="l" t="t" r="r" b="b"/>
            <a:pathLst>
              <a:path w="16230600" h="8229600">
                <a:moveTo>
                  <a:pt x="0" y="0"/>
                </a:moveTo>
                <a:lnTo>
                  <a:pt x="16230600" y="0"/>
                </a:lnTo>
                <a:lnTo>
                  <a:pt x="16230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</a:blip>
            <a:stretch>
              <a:fillRect t="-12808" b="-18590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3595225" y="1394215"/>
            <a:ext cx="11097550" cy="1283843"/>
            <a:chOff x="0" y="0"/>
            <a:chExt cx="2922812" cy="33813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22812" cy="338131"/>
            </a:xfrm>
            <a:custGeom>
              <a:avLst/>
              <a:gdLst/>
              <a:ahLst/>
              <a:cxnLst/>
              <a:rect l="l" t="t" r="r" b="b"/>
              <a:pathLst>
                <a:path w="2922812" h="338131">
                  <a:moveTo>
                    <a:pt x="35579" y="0"/>
                  </a:moveTo>
                  <a:lnTo>
                    <a:pt x="2887233" y="0"/>
                  </a:lnTo>
                  <a:cubicBezTo>
                    <a:pt x="2896669" y="0"/>
                    <a:pt x="2905718" y="3748"/>
                    <a:pt x="2912391" y="10421"/>
                  </a:cubicBezTo>
                  <a:cubicBezTo>
                    <a:pt x="2919063" y="17093"/>
                    <a:pt x="2922812" y="26143"/>
                    <a:pt x="2922812" y="35579"/>
                  </a:cubicBezTo>
                  <a:lnTo>
                    <a:pt x="2922812" y="302553"/>
                  </a:lnTo>
                  <a:cubicBezTo>
                    <a:pt x="2922812" y="311989"/>
                    <a:pt x="2919063" y="321038"/>
                    <a:pt x="2912391" y="327711"/>
                  </a:cubicBezTo>
                  <a:cubicBezTo>
                    <a:pt x="2905718" y="334383"/>
                    <a:pt x="2896669" y="338131"/>
                    <a:pt x="2887233" y="338131"/>
                  </a:cubicBezTo>
                  <a:lnTo>
                    <a:pt x="35579" y="338131"/>
                  </a:lnTo>
                  <a:cubicBezTo>
                    <a:pt x="26143" y="338131"/>
                    <a:pt x="17093" y="334383"/>
                    <a:pt x="10421" y="327711"/>
                  </a:cubicBezTo>
                  <a:cubicBezTo>
                    <a:pt x="3748" y="321038"/>
                    <a:pt x="0" y="311989"/>
                    <a:pt x="0" y="302553"/>
                  </a:cubicBezTo>
                  <a:lnTo>
                    <a:pt x="0" y="35579"/>
                  </a:lnTo>
                  <a:cubicBezTo>
                    <a:pt x="0" y="26143"/>
                    <a:pt x="3748" y="17093"/>
                    <a:pt x="10421" y="10421"/>
                  </a:cubicBezTo>
                  <a:cubicBezTo>
                    <a:pt x="17093" y="3748"/>
                    <a:pt x="26143" y="0"/>
                    <a:pt x="35579" y="0"/>
                  </a:cubicBezTo>
                  <a:close/>
                </a:path>
              </a:pathLst>
            </a:custGeom>
            <a:solidFill>
              <a:srgbClr val="3B425E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95250"/>
              <a:ext cx="2922812" cy="433381"/>
            </a:xfrm>
            <a:prstGeom prst="rect">
              <a:avLst/>
            </a:prstGeom>
          </p:spPr>
          <p:txBody>
            <a:bodyPr lIns="12700" tIns="12700" rIns="12700" bIns="12700" rtlCol="0" anchor="ctr"/>
            <a:lstStyle/>
            <a:p>
              <a:pPr algn="ctr">
                <a:lnSpc>
                  <a:spcPts val="769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3855025" y="1610687"/>
            <a:ext cx="10006687" cy="675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49"/>
              </a:lnSpc>
              <a:spcBef>
                <a:spcPct val="0"/>
              </a:spcBef>
            </a:pPr>
            <a:r>
              <a:rPr lang="en-US" sz="396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ANALISIS POTENSIAL MASALAH 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808201" y="3595373"/>
            <a:ext cx="5370756" cy="4644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25"/>
              </a:lnSpc>
            </a:pPr>
            <a:r>
              <a:rPr lang="en-US" sz="166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Masalah 1: Bottleneck di Heat Treatment (F)</a:t>
            </a:r>
          </a:p>
          <a:p>
            <a:pPr algn="just">
              <a:lnSpc>
                <a:spcPts val="2325"/>
              </a:lnSpc>
            </a:pPr>
            <a:endParaRPr lang="en-US" sz="166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325"/>
              </a:lnSpc>
            </a:pPr>
            <a:r>
              <a:rPr lang="en-US" sz="166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Risiko: F satu-satunya jalan antara kaki kiri &amp; kanan U</a:t>
            </a:r>
          </a:p>
          <a:p>
            <a:pPr algn="just">
              <a:lnSpc>
                <a:spcPts val="2134"/>
              </a:lnSpc>
            </a:pPr>
            <a:r>
              <a:rPr lang="en-US" sz="152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Dampak: Kalau F rusak/overload → seluruh produksi berhenti</a:t>
            </a:r>
          </a:p>
          <a:p>
            <a:pPr algn="just">
              <a:lnSpc>
                <a:spcPts val="2134"/>
              </a:lnSpc>
            </a:pPr>
            <a:endParaRPr lang="en-US" sz="1524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325"/>
              </a:lnSpc>
            </a:pPr>
            <a:r>
              <a:rPr lang="en-US" sz="166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Solusi:</a:t>
            </a:r>
          </a:p>
          <a:p>
            <a:pPr algn="just">
              <a:lnSpc>
                <a:spcPts val="2325"/>
              </a:lnSpc>
            </a:pPr>
            <a:r>
              <a:rPr lang="en-US" sz="166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Buat buffer stock sebelum dan sesudah F</a:t>
            </a:r>
          </a:p>
          <a:p>
            <a:pPr algn="just">
              <a:lnSpc>
                <a:spcPts val="2325"/>
              </a:lnSpc>
            </a:pPr>
            <a:r>
              <a:rPr lang="en-US" sz="166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Pertimbangkan duplikasi mesin F di masa depan</a:t>
            </a:r>
          </a:p>
          <a:p>
            <a:pPr algn="just">
              <a:lnSpc>
                <a:spcPts val="2325"/>
              </a:lnSpc>
            </a:pPr>
            <a:r>
              <a:rPr lang="en-US" sz="166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Buat jalur darurat manual</a:t>
            </a:r>
          </a:p>
          <a:p>
            <a:pPr algn="just">
              <a:lnSpc>
                <a:spcPts val="2325"/>
              </a:lnSpc>
            </a:pPr>
            <a:endParaRPr lang="en-US" sz="166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325"/>
              </a:lnSpc>
            </a:pPr>
            <a:endParaRPr lang="en-US" sz="166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325"/>
              </a:lnSpc>
            </a:pPr>
            <a:endParaRPr lang="en-US" sz="166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325"/>
              </a:lnSpc>
            </a:pPr>
            <a:endParaRPr lang="en-US" sz="166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325"/>
              </a:lnSpc>
              <a:spcBef>
                <a:spcPct val="0"/>
              </a:spcBef>
            </a:pPr>
            <a:endParaRPr lang="en-US" sz="166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043426" y="3595373"/>
            <a:ext cx="5370756" cy="3965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465"/>
              </a:lnSpc>
            </a:pPr>
            <a:r>
              <a:rPr lang="en-US" sz="176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Masalah 2: Kemacetan di Area Tengah U</a:t>
            </a:r>
          </a:p>
          <a:p>
            <a:pPr algn="just">
              <a:lnSpc>
                <a:spcPts val="2465"/>
              </a:lnSpc>
            </a:pPr>
            <a:endParaRPr lang="en-US" sz="176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465"/>
              </a:lnSpc>
            </a:pPr>
            <a:r>
              <a:rPr lang="en-US" sz="176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Risiko: Persimpangan lalu lintas (material, teknisi, supervisor)</a:t>
            </a:r>
          </a:p>
          <a:p>
            <a:pPr algn="just">
              <a:lnSpc>
                <a:spcPts val="2465"/>
              </a:lnSpc>
            </a:pPr>
            <a:r>
              <a:rPr lang="en-US" sz="176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Dampak: Macet, delay produksi</a:t>
            </a:r>
          </a:p>
          <a:p>
            <a:pPr algn="just">
              <a:lnSpc>
                <a:spcPts val="2465"/>
              </a:lnSpc>
            </a:pPr>
            <a:endParaRPr lang="en-US" sz="176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465"/>
              </a:lnSpc>
            </a:pPr>
            <a:r>
              <a:rPr lang="en-US" sz="176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Solusi:</a:t>
            </a:r>
          </a:p>
          <a:p>
            <a:pPr algn="just">
              <a:lnSpc>
                <a:spcPts val="2465"/>
              </a:lnSpc>
            </a:pPr>
            <a:r>
              <a:rPr lang="en-US" sz="176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Marking jalur material handling di lantai</a:t>
            </a:r>
          </a:p>
          <a:p>
            <a:pPr algn="just">
              <a:lnSpc>
                <a:spcPts val="2465"/>
              </a:lnSpc>
            </a:pPr>
            <a:r>
              <a:rPr lang="en-US" sz="176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Atur waktu pengiriman material (staggered)</a:t>
            </a:r>
          </a:p>
          <a:p>
            <a:pPr algn="just">
              <a:lnSpc>
                <a:spcPts val="2465"/>
              </a:lnSpc>
            </a:pPr>
            <a:r>
              <a:rPr lang="en-US" sz="176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Sediakan forklift khusus area U-bottom</a:t>
            </a:r>
          </a:p>
          <a:p>
            <a:pPr algn="just">
              <a:lnSpc>
                <a:spcPts val="2465"/>
              </a:lnSpc>
            </a:pPr>
            <a:endParaRPr lang="en-US" sz="176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465"/>
              </a:lnSpc>
            </a:pPr>
            <a:endParaRPr lang="en-US" sz="176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465"/>
              </a:lnSpc>
              <a:spcBef>
                <a:spcPct val="0"/>
              </a:spcBef>
            </a:pPr>
            <a:endParaRPr lang="en-US" sz="176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42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E0EA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274726" cy="21960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1028700"/>
            <a:ext cx="16230600" cy="8229600"/>
          </a:xfrm>
          <a:custGeom>
            <a:avLst/>
            <a:gdLst/>
            <a:ahLst/>
            <a:cxnLst/>
            <a:rect l="l" t="t" r="r" b="b"/>
            <a:pathLst>
              <a:path w="16230600" h="8229600">
                <a:moveTo>
                  <a:pt x="0" y="0"/>
                </a:moveTo>
                <a:lnTo>
                  <a:pt x="16230600" y="0"/>
                </a:lnTo>
                <a:lnTo>
                  <a:pt x="16230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</a:blip>
            <a:stretch>
              <a:fillRect t="-12808" b="-18590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3595225" y="1394215"/>
            <a:ext cx="11097550" cy="1283843"/>
            <a:chOff x="0" y="0"/>
            <a:chExt cx="2922812" cy="33813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22812" cy="338131"/>
            </a:xfrm>
            <a:custGeom>
              <a:avLst/>
              <a:gdLst/>
              <a:ahLst/>
              <a:cxnLst/>
              <a:rect l="l" t="t" r="r" b="b"/>
              <a:pathLst>
                <a:path w="2922812" h="338131">
                  <a:moveTo>
                    <a:pt x="35579" y="0"/>
                  </a:moveTo>
                  <a:lnTo>
                    <a:pt x="2887233" y="0"/>
                  </a:lnTo>
                  <a:cubicBezTo>
                    <a:pt x="2896669" y="0"/>
                    <a:pt x="2905718" y="3748"/>
                    <a:pt x="2912391" y="10421"/>
                  </a:cubicBezTo>
                  <a:cubicBezTo>
                    <a:pt x="2919063" y="17093"/>
                    <a:pt x="2922812" y="26143"/>
                    <a:pt x="2922812" y="35579"/>
                  </a:cubicBezTo>
                  <a:lnTo>
                    <a:pt x="2922812" y="302553"/>
                  </a:lnTo>
                  <a:cubicBezTo>
                    <a:pt x="2922812" y="311989"/>
                    <a:pt x="2919063" y="321038"/>
                    <a:pt x="2912391" y="327711"/>
                  </a:cubicBezTo>
                  <a:cubicBezTo>
                    <a:pt x="2905718" y="334383"/>
                    <a:pt x="2896669" y="338131"/>
                    <a:pt x="2887233" y="338131"/>
                  </a:cubicBezTo>
                  <a:lnTo>
                    <a:pt x="35579" y="338131"/>
                  </a:lnTo>
                  <a:cubicBezTo>
                    <a:pt x="26143" y="338131"/>
                    <a:pt x="17093" y="334383"/>
                    <a:pt x="10421" y="327711"/>
                  </a:cubicBezTo>
                  <a:cubicBezTo>
                    <a:pt x="3748" y="321038"/>
                    <a:pt x="0" y="311989"/>
                    <a:pt x="0" y="302553"/>
                  </a:cubicBezTo>
                  <a:lnTo>
                    <a:pt x="0" y="35579"/>
                  </a:lnTo>
                  <a:cubicBezTo>
                    <a:pt x="0" y="26143"/>
                    <a:pt x="3748" y="17093"/>
                    <a:pt x="10421" y="10421"/>
                  </a:cubicBezTo>
                  <a:cubicBezTo>
                    <a:pt x="17093" y="3748"/>
                    <a:pt x="26143" y="0"/>
                    <a:pt x="35579" y="0"/>
                  </a:cubicBezTo>
                  <a:close/>
                </a:path>
              </a:pathLst>
            </a:custGeom>
            <a:solidFill>
              <a:srgbClr val="3B425E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95250"/>
              <a:ext cx="2922812" cy="433381"/>
            </a:xfrm>
            <a:prstGeom prst="rect">
              <a:avLst/>
            </a:prstGeom>
          </p:spPr>
          <p:txBody>
            <a:bodyPr lIns="12700" tIns="12700" rIns="12700" bIns="12700" rtlCol="0" anchor="ctr"/>
            <a:lstStyle/>
            <a:p>
              <a:pPr algn="ctr">
                <a:lnSpc>
                  <a:spcPts val="769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3855025" y="1610687"/>
            <a:ext cx="10006687" cy="675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49"/>
              </a:lnSpc>
              <a:spcBef>
                <a:spcPct val="0"/>
              </a:spcBef>
            </a:pPr>
            <a:r>
              <a:rPr lang="en-US" sz="396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ANALISIS POTENSIAL MASALAH 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808201" y="3595373"/>
            <a:ext cx="5370756" cy="3910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25"/>
              </a:lnSpc>
            </a:pPr>
            <a:r>
              <a:rPr lang="en-US" sz="166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Masalah 3: Kebisingan di Kantor (L)</a:t>
            </a:r>
          </a:p>
          <a:p>
            <a:pPr algn="just">
              <a:lnSpc>
                <a:spcPts val="2325"/>
              </a:lnSpc>
            </a:pPr>
            <a:endParaRPr lang="en-US" sz="166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325"/>
              </a:lnSpc>
            </a:pPr>
            <a:r>
              <a:rPr lang="en-US" sz="166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Risiko: Suara mesin machining (B &amp; C) masih terdengar</a:t>
            </a:r>
          </a:p>
          <a:p>
            <a:pPr algn="just">
              <a:lnSpc>
                <a:spcPts val="2325"/>
              </a:lnSpc>
            </a:pPr>
            <a:endParaRPr lang="en-US" sz="166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325"/>
              </a:lnSpc>
            </a:pPr>
            <a:r>
              <a:rPr lang="en-US" sz="166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Solusi: Pasang partisi kedap suara, gunakan ruang meeting sebagai buffer</a:t>
            </a:r>
          </a:p>
          <a:p>
            <a:pPr algn="just">
              <a:lnSpc>
                <a:spcPts val="2885"/>
              </a:lnSpc>
            </a:pPr>
            <a:endParaRPr lang="en-US" sz="166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325"/>
              </a:lnSpc>
            </a:pPr>
            <a:endParaRPr lang="en-US" sz="166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325"/>
              </a:lnSpc>
            </a:pPr>
            <a:endParaRPr lang="en-US" sz="166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325"/>
              </a:lnSpc>
            </a:pPr>
            <a:endParaRPr lang="en-US" sz="166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325"/>
              </a:lnSpc>
            </a:pPr>
            <a:endParaRPr lang="en-US" sz="166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325"/>
              </a:lnSpc>
              <a:spcBef>
                <a:spcPct val="0"/>
              </a:spcBef>
            </a:pPr>
            <a:endParaRPr lang="en-US" sz="166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808201" y="6023156"/>
            <a:ext cx="5370756" cy="3499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45"/>
              </a:lnSpc>
            </a:pPr>
            <a:endParaRPr/>
          </a:p>
          <a:p>
            <a:pPr algn="just">
              <a:lnSpc>
                <a:spcPts val="2465"/>
              </a:lnSpc>
            </a:pPr>
            <a:r>
              <a:rPr lang="en-US" sz="176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Masalah 5: Keterbatasan Ekspansi</a:t>
            </a:r>
          </a:p>
          <a:p>
            <a:pPr algn="just">
              <a:lnSpc>
                <a:spcPts val="2465"/>
              </a:lnSpc>
            </a:pPr>
            <a:endParaRPr lang="en-US" sz="176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465"/>
              </a:lnSpc>
            </a:pPr>
            <a:r>
              <a:rPr lang="en-US" sz="176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Risiko: Ruang dalam U sudah penuh</a:t>
            </a:r>
          </a:p>
          <a:p>
            <a:pPr algn="just">
              <a:lnSpc>
                <a:spcPts val="2465"/>
              </a:lnSpc>
            </a:pPr>
            <a:endParaRPr lang="en-US" sz="176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465"/>
              </a:lnSpc>
            </a:pPr>
            <a:r>
              <a:rPr lang="en-US" sz="176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Solusi: Rencanakan expansion ke arah luar U (sisi kiri, kanan, atau bawah)</a:t>
            </a:r>
          </a:p>
          <a:p>
            <a:pPr algn="just">
              <a:lnSpc>
                <a:spcPts val="2465"/>
              </a:lnSpc>
            </a:pPr>
            <a:endParaRPr lang="en-US" sz="176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465"/>
              </a:lnSpc>
            </a:pPr>
            <a:endParaRPr lang="en-US" sz="176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465"/>
              </a:lnSpc>
            </a:pPr>
            <a:endParaRPr lang="en-US" sz="176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465"/>
              </a:lnSpc>
              <a:spcBef>
                <a:spcPct val="0"/>
              </a:spcBef>
            </a:pPr>
            <a:endParaRPr lang="en-US" sz="176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322019" y="3185688"/>
            <a:ext cx="5370756" cy="335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473"/>
              </a:lnSpc>
            </a:pPr>
            <a:endParaRPr/>
          </a:p>
          <a:p>
            <a:pPr algn="just">
              <a:lnSpc>
                <a:spcPts val="2473"/>
              </a:lnSpc>
            </a:pPr>
            <a:r>
              <a:rPr lang="en-US" sz="176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Masalah 4: Ruang Kerja Sempit di Sisi Dalam U</a:t>
            </a:r>
          </a:p>
          <a:p>
            <a:pPr algn="just">
              <a:lnSpc>
                <a:spcPts val="2473"/>
              </a:lnSpc>
            </a:pPr>
            <a:endParaRPr lang="en-US" sz="1766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473"/>
              </a:lnSpc>
            </a:pPr>
            <a:r>
              <a:rPr lang="en-US" sz="176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Risiko: Area menghadap tengah U lebih sempit</a:t>
            </a:r>
          </a:p>
          <a:p>
            <a:pPr algn="just">
              <a:lnSpc>
                <a:spcPts val="2473"/>
              </a:lnSpc>
            </a:pPr>
            <a:endParaRPr lang="en-US" sz="1766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473"/>
              </a:lnSpc>
            </a:pPr>
            <a:r>
              <a:rPr lang="en-US" sz="176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Solusi: Desain workstation compact &amp; ergonomis, gunakan tool cabinet mobile</a:t>
            </a:r>
          </a:p>
          <a:p>
            <a:pPr algn="just">
              <a:lnSpc>
                <a:spcPts val="2473"/>
              </a:lnSpc>
            </a:pPr>
            <a:endParaRPr lang="en-US" sz="1766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473"/>
              </a:lnSpc>
            </a:pPr>
            <a:endParaRPr lang="en-US" sz="1766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473"/>
              </a:lnSpc>
            </a:pPr>
            <a:endParaRPr lang="en-US" sz="1766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473"/>
              </a:lnSpc>
              <a:spcBef>
                <a:spcPct val="0"/>
              </a:spcBef>
            </a:pPr>
            <a:endParaRPr lang="en-US" sz="1766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42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E0EA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274726" cy="21960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1028700"/>
            <a:ext cx="16230600" cy="8229600"/>
          </a:xfrm>
          <a:custGeom>
            <a:avLst/>
            <a:gdLst/>
            <a:ahLst/>
            <a:cxnLst/>
            <a:rect l="l" t="t" r="r" b="b"/>
            <a:pathLst>
              <a:path w="16230600" h="8229600">
                <a:moveTo>
                  <a:pt x="0" y="0"/>
                </a:moveTo>
                <a:lnTo>
                  <a:pt x="16230600" y="0"/>
                </a:lnTo>
                <a:lnTo>
                  <a:pt x="16230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</a:blip>
            <a:stretch>
              <a:fillRect t="-12808" b="-18590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3595225" y="1394215"/>
            <a:ext cx="11097550" cy="1283843"/>
            <a:chOff x="0" y="0"/>
            <a:chExt cx="2922812" cy="33813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22812" cy="338131"/>
            </a:xfrm>
            <a:custGeom>
              <a:avLst/>
              <a:gdLst/>
              <a:ahLst/>
              <a:cxnLst/>
              <a:rect l="l" t="t" r="r" b="b"/>
              <a:pathLst>
                <a:path w="2922812" h="338131">
                  <a:moveTo>
                    <a:pt x="35579" y="0"/>
                  </a:moveTo>
                  <a:lnTo>
                    <a:pt x="2887233" y="0"/>
                  </a:lnTo>
                  <a:cubicBezTo>
                    <a:pt x="2896669" y="0"/>
                    <a:pt x="2905718" y="3748"/>
                    <a:pt x="2912391" y="10421"/>
                  </a:cubicBezTo>
                  <a:cubicBezTo>
                    <a:pt x="2919063" y="17093"/>
                    <a:pt x="2922812" y="26143"/>
                    <a:pt x="2922812" y="35579"/>
                  </a:cubicBezTo>
                  <a:lnTo>
                    <a:pt x="2922812" y="302553"/>
                  </a:lnTo>
                  <a:cubicBezTo>
                    <a:pt x="2922812" y="311989"/>
                    <a:pt x="2919063" y="321038"/>
                    <a:pt x="2912391" y="327711"/>
                  </a:cubicBezTo>
                  <a:cubicBezTo>
                    <a:pt x="2905718" y="334383"/>
                    <a:pt x="2896669" y="338131"/>
                    <a:pt x="2887233" y="338131"/>
                  </a:cubicBezTo>
                  <a:lnTo>
                    <a:pt x="35579" y="338131"/>
                  </a:lnTo>
                  <a:cubicBezTo>
                    <a:pt x="26143" y="338131"/>
                    <a:pt x="17093" y="334383"/>
                    <a:pt x="10421" y="327711"/>
                  </a:cubicBezTo>
                  <a:cubicBezTo>
                    <a:pt x="3748" y="321038"/>
                    <a:pt x="0" y="311989"/>
                    <a:pt x="0" y="302553"/>
                  </a:cubicBezTo>
                  <a:lnTo>
                    <a:pt x="0" y="35579"/>
                  </a:lnTo>
                  <a:cubicBezTo>
                    <a:pt x="0" y="26143"/>
                    <a:pt x="3748" y="17093"/>
                    <a:pt x="10421" y="10421"/>
                  </a:cubicBezTo>
                  <a:cubicBezTo>
                    <a:pt x="17093" y="3748"/>
                    <a:pt x="26143" y="0"/>
                    <a:pt x="35579" y="0"/>
                  </a:cubicBezTo>
                  <a:close/>
                </a:path>
              </a:pathLst>
            </a:custGeom>
            <a:solidFill>
              <a:srgbClr val="3B425E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95250"/>
              <a:ext cx="2922812" cy="433381"/>
            </a:xfrm>
            <a:prstGeom prst="rect">
              <a:avLst/>
            </a:prstGeom>
          </p:spPr>
          <p:txBody>
            <a:bodyPr lIns="12700" tIns="12700" rIns="12700" bIns="12700" rtlCol="0" anchor="ctr"/>
            <a:lstStyle/>
            <a:p>
              <a:pPr algn="ctr">
                <a:lnSpc>
                  <a:spcPts val="769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3855025" y="1591637"/>
            <a:ext cx="10577950" cy="927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sz="54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KESIMPULAN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14403" y="2966085"/>
            <a:ext cx="15644897" cy="6292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Hasil Perancangan Tata Letak SLP:</a:t>
            </a:r>
          </a:p>
          <a:p>
            <a:pPr algn="just">
              <a:lnSpc>
                <a:spcPts val="3360"/>
              </a:lnSpc>
            </a:pPr>
            <a:endParaRPr lang="en-US" sz="24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ARC: Semua proses utama (A-J) memiliki hubungan A berurutan → wajib bersebelahan</a:t>
            </a:r>
          </a:p>
          <a:p>
            <a:pPr algn="just">
              <a:lnSpc>
                <a:spcPts val="3360"/>
              </a:lnSpc>
            </a:pPr>
            <a:endParaRPr lang="en-US" sz="24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ARD: Bentuk linear dengan K di tengah, L di kanan atas</a:t>
            </a:r>
          </a:p>
          <a:p>
            <a:pPr algn="just">
              <a:lnSpc>
                <a:spcPts val="3360"/>
              </a:lnSpc>
            </a:pPr>
            <a:endParaRPr lang="en-US" sz="24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Alternatif: Linear (simpel tapi boros), U-Shape (efisien), Zig-Zag (fleksibel tapi ribet)</a:t>
            </a:r>
          </a:p>
          <a:p>
            <a:pPr algn="just">
              <a:lnSpc>
                <a:spcPts val="3360"/>
              </a:lnSpc>
            </a:pPr>
            <a:endParaRPr lang="en-US" sz="24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Terpilih: U-Shape dengan pertimbangan maintenance cepat, hemat ruang 25-35%, integrasi logistik baik</a:t>
            </a:r>
          </a:p>
          <a:p>
            <a:pPr algn="just">
              <a:lnSpc>
                <a:spcPts val="3360"/>
              </a:lnSpc>
            </a:pPr>
            <a:endParaRPr lang="en-US" sz="24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Manfaat: Mengurangi downtime, hemat biaya operasional, meningkatkan kualitas, mengatasi kemacetan</a:t>
            </a:r>
          </a:p>
          <a:p>
            <a:pPr algn="just">
              <a:lnSpc>
                <a:spcPts val="3360"/>
              </a:lnSpc>
            </a:pPr>
            <a:endParaRPr lang="en-US" sz="24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360"/>
              </a:lnSpc>
              <a:spcBef>
                <a:spcPct val="0"/>
              </a:spcBef>
            </a:pPr>
            <a:endParaRPr lang="en-US" sz="24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42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E0EA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274726" cy="21960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1028700"/>
            <a:ext cx="16230600" cy="8229600"/>
          </a:xfrm>
          <a:custGeom>
            <a:avLst/>
            <a:gdLst/>
            <a:ahLst/>
            <a:cxnLst/>
            <a:rect l="l" t="t" r="r" b="b"/>
            <a:pathLst>
              <a:path w="16230600" h="8229600">
                <a:moveTo>
                  <a:pt x="0" y="0"/>
                </a:moveTo>
                <a:lnTo>
                  <a:pt x="16230600" y="0"/>
                </a:lnTo>
                <a:lnTo>
                  <a:pt x="16230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</a:blip>
            <a:stretch>
              <a:fillRect t="-12808" b="-18590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4988524" y="1696692"/>
            <a:ext cx="8310952" cy="7164984"/>
            <a:chOff x="0" y="0"/>
            <a:chExt cx="2188893" cy="188707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88893" cy="1887074"/>
            </a:xfrm>
            <a:custGeom>
              <a:avLst/>
              <a:gdLst/>
              <a:ahLst/>
              <a:cxnLst/>
              <a:rect l="l" t="t" r="r" b="b"/>
              <a:pathLst>
                <a:path w="2188893" h="1887074">
                  <a:moveTo>
                    <a:pt x="47508" y="0"/>
                  </a:moveTo>
                  <a:lnTo>
                    <a:pt x="2141384" y="0"/>
                  </a:lnTo>
                  <a:cubicBezTo>
                    <a:pt x="2153984" y="0"/>
                    <a:pt x="2166068" y="5005"/>
                    <a:pt x="2174978" y="13915"/>
                  </a:cubicBezTo>
                  <a:cubicBezTo>
                    <a:pt x="2183887" y="22824"/>
                    <a:pt x="2188893" y="34908"/>
                    <a:pt x="2188893" y="47508"/>
                  </a:cubicBezTo>
                  <a:lnTo>
                    <a:pt x="2188893" y="1839566"/>
                  </a:lnTo>
                  <a:cubicBezTo>
                    <a:pt x="2188893" y="1852166"/>
                    <a:pt x="2183887" y="1864250"/>
                    <a:pt x="2174978" y="1873159"/>
                  </a:cubicBezTo>
                  <a:cubicBezTo>
                    <a:pt x="2166068" y="1882069"/>
                    <a:pt x="2153984" y="1887074"/>
                    <a:pt x="2141384" y="1887074"/>
                  </a:cubicBezTo>
                  <a:lnTo>
                    <a:pt x="47508" y="1887074"/>
                  </a:lnTo>
                  <a:cubicBezTo>
                    <a:pt x="34908" y="1887074"/>
                    <a:pt x="22824" y="1882069"/>
                    <a:pt x="13915" y="1873159"/>
                  </a:cubicBezTo>
                  <a:cubicBezTo>
                    <a:pt x="5005" y="1864250"/>
                    <a:pt x="0" y="1852166"/>
                    <a:pt x="0" y="1839566"/>
                  </a:cubicBezTo>
                  <a:lnTo>
                    <a:pt x="0" y="47508"/>
                  </a:lnTo>
                  <a:cubicBezTo>
                    <a:pt x="0" y="34908"/>
                    <a:pt x="5005" y="22824"/>
                    <a:pt x="13915" y="13915"/>
                  </a:cubicBezTo>
                  <a:cubicBezTo>
                    <a:pt x="22824" y="5005"/>
                    <a:pt x="34908" y="0"/>
                    <a:pt x="47508" y="0"/>
                  </a:cubicBezTo>
                  <a:close/>
                </a:path>
              </a:pathLst>
            </a:custGeom>
            <a:solidFill>
              <a:srgbClr val="3B425E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2188893" cy="19156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6648882" y="2568850"/>
            <a:ext cx="4990236" cy="3840036"/>
          </a:xfrm>
          <a:custGeom>
            <a:avLst/>
            <a:gdLst/>
            <a:ahLst/>
            <a:cxnLst/>
            <a:rect l="l" t="t" r="r" b="b"/>
            <a:pathLst>
              <a:path w="4990236" h="3840036">
                <a:moveTo>
                  <a:pt x="0" y="0"/>
                </a:moveTo>
                <a:lnTo>
                  <a:pt x="4990236" y="0"/>
                </a:lnTo>
                <a:lnTo>
                  <a:pt x="4990236" y="3840036"/>
                </a:lnTo>
                <a:lnTo>
                  <a:pt x="0" y="38400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347218" y="7145909"/>
            <a:ext cx="7593565" cy="16720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94"/>
              </a:lnSpc>
            </a:pPr>
            <a:r>
              <a:rPr lang="en-US" sz="3800" b="1" spc="7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Mohon maaf atas kekurangan dan kesalahan Nya</a:t>
            </a:r>
          </a:p>
        </p:txBody>
      </p:sp>
      <p:sp>
        <p:nvSpPr>
          <p:cNvPr id="11" name="Freeform 11"/>
          <p:cNvSpPr/>
          <p:nvPr/>
        </p:nvSpPr>
        <p:spPr>
          <a:xfrm>
            <a:off x="46024" y="-69818"/>
            <a:ext cx="5342224" cy="6108572"/>
          </a:xfrm>
          <a:custGeom>
            <a:avLst/>
            <a:gdLst/>
            <a:ahLst/>
            <a:cxnLst/>
            <a:rect l="l" t="t" r="r" b="b"/>
            <a:pathLst>
              <a:path w="5342224" h="6108572">
                <a:moveTo>
                  <a:pt x="0" y="0"/>
                </a:moveTo>
                <a:lnTo>
                  <a:pt x="5342224" y="0"/>
                </a:lnTo>
                <a:lnTo>
                  <a:pt x="5342224" y="6108572"/>
                </a:lnTo>
                <a:lnTo>
                  <a:pt x="0" y="61085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flipH="1" flipV="1">
            <a:off x="14134855" y="5555273"/>
            <a:ext cx="4199169" cy="4801545"/>
          </a:xfrm>
          <a:custGeom>
            <a:avLst/>
            <a:gdLst/>
            <a:ahLst/>
            <a:cxnLst/>
            <a:rect l="l" t="t" r="r" b="b"/>
            <a:pathLst>
              <a:path w="4199169" h="4801545">
                <a:moveTo>
                  <a:pt x="4199169" y="4801545"/>
                </a:moveTo>
                <a:lnTo>
                  <a:pt x="0" y="4801545"/>
                </a:lnTo>
                <a:lnTo>
                  <a:pt x="0" y="0"/>
                </a:lnTo>
                <a:lnTo>
                  <a:pt x="4199169" y="0"/>
                </a:lnTo>
                <a:lnTo>
                  <a:pt x="4199169" y="480154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1162</Words>
  <Application>Microsoft Office PowerPoint</Application>
  <PresentationFormat>Custom</PresentationFormat>
  <Paragraphs>198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Poppins Bold</vt:lpstr>
      <vt:lpstr>Calibri</vt:lpstr>
      <vt:lpstr>Arial</vt:lpstr>
      <vt:lpstr>Poppins</vt:lpstr>
      <vt:lpstr>League Spartan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Biru Simple Kreatif Tugas Kelompok Presentasi</dc:title>
  <cp:lastModifiedBy>Andini St N</cp:lastModifiedBy>
  <cp:revision>2</cp:revision>
  <dcterms:created xsi:type="dcterms:W3CDTF">2006-08-16T00:00:00Z</dcterms:created>
  <dcterms:modified xsi:type="dcterms:W3CDTF">2026-04-19T06:52:25Z</dcterms:modified>
  <dc:identifier>DAHG4z5UAI4</dc:identifier>
</cp:coreProperties>
</file>